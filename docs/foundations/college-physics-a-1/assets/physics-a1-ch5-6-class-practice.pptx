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8"/>
  </p:notesMasterIdLst>
  <p:handoutMasterIdLst>
    <p:handoutMasterId r:id="rId9"/>
  </p:handoutMasterIdLst>
  <p:sldIdLst>
    <p:sldId id="337" r:id="rId3"/>
    <p:sldId id="349" r:id="rId4"/>
    <p:sldId id="348" r:id="rId5"/>
    <p:sldId id="350" r:id="rId6"/>
    <p:sldId id="351" r:id="rId7"/>
  </p:sldIdLst>
  <p:sldSz cx="9144000" cy="5719763"/>
  <p:notesSz cx="9144000" cy="6858000"/>
  <p:custDataLst>
    <p:tags r:id="rId1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2" userDrawn="1">
          <p15:clr>
            <a:srgbClr val="A4A3A4"/>
          </p15:clr>
        </p15:guide>
        <p15:guide id="2" pos="57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FFFF66"/>
    <a:srgbClr val="CCFFFF"/>
    <a:srgbClr val="000099"/>
    <a:srgbClr val="FF0000"/>
    <a:srgbClr val="FF996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8" d="100"/>
          <a:sy n="98" d="100"/>
        </p:scale>
        <p:origin x="826" y="58"/>
      </p:cViewPr>
      <p:guideLst>
        <p:guide orient="horz" pos="3602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307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日期占位符 3074"/>
          <p:cNvSpPr>
            <a:spLocks noGrp="1"/>
          </p:cNvSpPr>
          <p:nvPr>
            <p:ph type="dt" sz="quarter" idx="1"/>
          </p:nvPr>
        </p:nvSpPr>
        <p:spPr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页脚占位符 3075"/>
          <p:cNvSpPr>
            <a:spLocks noGrp="1"/>
          </p:cNvSpPr>
          <p:nvPr>
            <p:ph type="ftr" sz="quarter" idx="2"/>
          </p:nvPr>
        </p:nvSpPr>
        <p:spPr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>
              <a:defRPr sz="1200"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灯片编号占位符 3076"/>
          <p:cNvSpPr>
            <a:spLocks noGrp="1"/>
          </p:cNvSpPr>
          <p:nvPr>
            <p:ph type="sldNum" sz="quarter" idx="3"/>
          </p:nvPr>
        </p:nvSpPr>
        <p:spPr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r">
              <a:defRPr sz="120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94D9954-185F-447B-8874-F97190D13F6F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204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日期占位符 2050"/>
          <p:cNvSpPr>
            <a:spLocks noGrp="1"/>
          </p:cNvSpPr>
          <p:nvPr>
            <p:ph type="dt" idx="1"/>
          </p:nvPr>
        </p:nvSpPr>
        <p:spPr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幻灯片图像占位符 2051"/>
          <p:cNvSpPr>
            <a:spLocks noGrp="1" noRot="1" noChangeAspect="1"/>
          </p:cNvSpPr>
          <p:nvPr>
            <p:ph type="sldImg"/>
          </p:nvPr>
        </p:nvSpPr>
        <p:spPr>
          <a:xfrm>
            <a:off x="2516188" y="514350"/>
            <a:ext cx="4111625" cy="25717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文本占位符 2052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单击以编辑母版文本样式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第二级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第三级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第四级</a:t>
            </a: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第五级</a:t>
            </a:r>
          </a:p>
        </p:txBody>
      </p:sp>
      <p:sp>
        <p:nvSpPr>
          <p:cNvPr id="2054" name="页脚占位符 2053"/>
          <p:cNvSpPr>
            <a:spLocks noGrp="1"/>
          </p:cNvSpPr>
          <p:nvPr>
            <p:ph type="ftr" sz="quarter" idx="4"/>
          </p:nvPr>
        </p:nvSpPr>
        <p:spPr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>
              <a:defRPr sz="1200"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灯片编号占位符 2054"/>
          <p:cNvSpPr>
            <a:spLocks noGrp="1"/>
          </p:cNvSpPr>
          <p:nvPr>
            <p:ph type="sldNum" sz="quarter" idx="5"/>
          </p:nvPr>
        </p:nvSpPr>
        <p:spPr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r">
              <a:defRPr sz="120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20CBA99-7777-4BD2-B77E-D5869CA46917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936186"/>
            <a:ext cx="6858000" cy="1991547"/>
          </a:xfrm>
          <a:prstGeom prst="rect">
            <a:avLst/>
          </a:prstGeom>
        </p:spPr>
        <p:txBody>
          <a:bodyPr anchor="b"/>
          <a:lstStyle>
            <a:lvl1pPr algn="ctr">
              <a:defRPr sz="3755"/>
            </a:lvl1pPr>
          </a:lstStyle>
          <a:p>
            <a:pPr fontAlgn="base"/>
            <a:r>
              <a:rPr lang="zh-CN" altLang="en-US" sz="375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004535"/>
            <a:ext cx="6858000" cy="13811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/>
            </a:lvl1pPr>
            <a:lvl2pPr marL="285750" indent="0" algn="ctr">
              <a:buNone/>
              <a:defRPr sz="1250"/>
            </a:lvl2pPr>
            <a:lvl3pPr marL="572135" indent="0" algn="ctr">
              <a:buNone/>
              <a:defRPr sz="1125"/>
            </a:lvl3pPr>
            <a:lvl4pPr marL="857885" indent="0" algn="ctr">
              <a:buNone/>
              <a:defRPr sz="1000"/>
            </a:lvl4pPr>
            <a:lvl5pPr marL="1144270" indent="0" algn="ctr">
              <a:buNone/>
              <a:defRPr sz="1000"/>
            </a:lvl5pPr>
            <a:lvl6pPr marL="1430020" indent="0" algn="ctr">
              <a:buNone/>
              <a:defRPr sz="1000"/>
            </a:lvl6pPr>
            <a:lvl7pPr marL="1716405" indent="0" algn="ctr">
              <a:buNone/>
              <a:defRPr sz="1000"/>
            </a:lvl7pPr>
            <a:lvl8pPr marL="2002155" indent="0" algn="ctr">
              <a:buNone/>
              <a:defRPr sz="1000"/>
            </a:lvl8pPr>
            <a:lvl9pPr marL="2287905" indent="0" algn="ctr">
              <a:buNone/>
              <a:defRPr sz="10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9346"/>
            <a:ext cx="8229600" cy="9534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4760"/>
            <a:ext cx="8229600" cy="377546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426128"/>
            <a:ext cx="7886700" cy="2379527"/>
          </a:xfrm>
          <a:prstGeom prst="rect">
            <a:avLst/>
          </a:prstGeom>
        </p:spPr>
        <p:txBody>
          <a:bodyPr anchor="b"/>
          <a:lstStyle>
            <a:lvl1pPr>
              <a:defRPr sz="3755"/>
            </a:lvl1pPr>
          </a:lstStyle>
          <a:p>
            <a:pPr fontAlgn="base"/>
            <a:r>
              <a:rPr lang="zh-CN" altLang="en-US" sz="375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828166"/>
            <a:ext cx="7886700" cy="1251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285750" indent="0">
              <a:buNone/>
              <a:defRPr sz="1250">
                <a:solidFill>
                  <a:schemeClr val="tx1">
                    <a:tint val="75000"/>
                  </a:schemeClr>
                </a:solidFill>
              </a:defRPr>
            </a:lvl2pPr>
            <a:lvl3pPr marL="57213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3pPr>
            <a:lvl4pPr marL="857885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4pPr>
            <a:lvl5pPr marL="114427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5pPr>
            <a:lvl6pPr marL="143002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6pPr>
            <a:lvl7pPr marL="1716405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7pPr>
            <a:lvl8pPr marL="2002155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8pPr>
            <a:lvl9pPr marL="2287905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9346"/>
            <a:ext cx="8229600" cy="9534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22792"/>
            <a:ext cx="3886200" cy="3629541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22792"/>
            <a:ext cx="3886200" cy="3629541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04558"/>
            <a:ext cx="7886700" cy="110568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483432"/>
            <a:ext cx="3655181" cy="68724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750"/>
            </a:lvl1pPr>
            <a:lvl2pPr marL="285750" indent="0">
              <a:buNone/>
              <a:defRPr sz="1500"/>
            </a:lvl2pPr>
            <a:lvl3pPr marL="572135" indent="0">
              <a:buNone/>
              <a:defRPr sz="1250"/>
            </a:lvl3pPr>
            <a:lvl4pPr marL="857885" indent="0">
              <a:buNone/>
              <a:defRPr sz="1125"/>
            </a:lvl4pPr>
            <a:lvl5pPr marL="1144270" indent="0">
              <a:buNone/>
              <a:defRPr sz="1125"/>
            </a:lvl5pPr>
            <a:lvl6pPr marL="1430020" indent="0">
              <a:buNone/>
              <a:defRPr sz="1125"/>
            </a:lvl6pPr>
            <a:lvl7pPr marL="1716405" indent="0">
              <a:buNone/>
              <a:defRPr sz="1125"/>
            </a:lvl7pPr>
            <a:lvl8pPr marL="2002155" indent="0">
              <a:buNone/>
              <a:defRPr sz="1125"/>
            </a:lvl8pPr>
            <a:lvl9pPr marL="2287905" indent="0">
              <a:buNone/>
              <a:defRPr sz="1125"/>
            </a:lvl9pPr>
          </a:lstStyle>
          <a:p>
            <a:pPr lvl="0" fontAlgn="base"/>
            <a:r>
              <a:rPr lang="zh-CN" altLang="en-US" sz="175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223248"/>
            <a:ext cx="3655181" cy="293967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483432"/>
            <a:ext cx="3673182" cy="68724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750"/>
            </a:lvl1pPr>
            <a:lvl2pPr marL="285750" indent="0">
              <a:buNone/>
              <a:defRPr sz="1500"/>
            </a:lvl2pPr>
            <a:lvl3pPr marL="572135" indent="0">
              <a:buNone/>
              <a:defRPr sz="1250"/>
            </a:lvl3pPr>
            <a:lvl4pPr marL="857885" indent="0">
              <a:buNone/>
              <a:defRPr sz="1125"/>
            </a:lvl4pPr>
            <a:lvl5pPr marL="1144270" indent="0">
              <a:buNone/>
              <a:defRPr sz="1125"/>
            </a:lvl5pPr>
            <a:lvl6pPr marL="1430020" indent="0">
              <a:buNone/>
              <a:defRPr sz="1125"/>
            </a:lvl6pPr>
            <a:lvl7pPr marL="1716405" indent="0">
              <a:buNone/>
              <a:defRPr sz="1125"/>
            </a:lvl7pPr>
            <a:lvl8pPr marL="2002155" indent="0">
              <a:buNone/>
              <a:defRPr sz="1125"/>
            </a:lvl8pPr>
            <a:lvl9pPr marL="2287905" indent="0">
              <a:buNone/>
              <a:defRPr sz="1125"/>
            </a:lvl9pPr>
          </a:lstStyle>
          <a:p>
            <a:pPr lvl="0" fontAlgn="base"/>
            <a:r>
              <a:rPr lang="zh-CN" altLang="en-US" sz="175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223248"/>
            <a:ext cx="3673182" cy="293967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9346"/>
            <a:ext cx="8229600" cy="9534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81360"/>
            <a:ext cx="2949178" cy="1334760"/>
          </a:xfrm>
          <a:prstGeom prst="rect">
            <a:avLst/>
          </a:prstGeom>
        </p:spPr>
        <p:txBody>
          <a:bodyPr anchor="b"/>
          <a:lstStyle>
            <a:lvl1pPr>
              <a:defRPr sz="2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823632"/>
            <a:ext cx="4629150" cy="4065192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750"/>
            </a:lvl2pPr>
            <a:lvl3pPr>
              <a:defRPr sz="1500"/>
            </a:lvl3pPr>
            <a:lvl4pPr>
              <a:defRPr sz="1250"/>
            </a:lvl4pPr>
            <a:lvl5pPr>
              <a:defRPr sz="12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z="1750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z="1250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2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716120"/>
            <a:ext cx="2949178" cy="3179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285750" indent="0">
              <a:buNone/>
              <a:defRPr sz="875"/>
            </a:lvl2pPr>
            <a:lvl3pPr marL="572135" indent="0">
              <a:buNone/>
              <a:defRPr sz="750"/>
            </a:lvl3pPr>
            <a:lvl4pPr marL="857885" indent="0">
              <a:buNone/>
              <a:defRPr sz="625"/>
            </a:lvl4pPr>
            <a:lvl5pPr marL="1144270" indent="0">
              <a:buNone/>
              <a:defRPr sz="625"/>
            </a:lvl5pPr>
            <a:lvl6pPr marL="1430020" indent="0">
              <a:buNone/>
              <a:defRPr sz="625"/>
            </a:lvl6pPr>
            <a:lvl7pPr marL="1716405" indent="0">
              <a:buNone/>
              <a:defRPr sz="625"/>
            </a:lvl7pPr>
            <a:lvl8pPr marL="2002155" indent="0">
              <a:buNone/>
              <a:defRPr sz="625"/>
            </a:lvl8pPr>
            <a:lvl9pPr marL="2287905" indent="0">
              <a:buNone/>
              <a:defRPr sz="625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81360"/>
            <a:ext cx="3124012" cy="1334760"/>
          </a:xfrm>
          <a:prstGeom prst="rect">
            <a:avLst/>
          </a:prstGeom>
        </p:spPr>
        <p:txBody>
          <a:bodyPr anchor="b"/>
          <a:lstStyle>
            <a:lvl1pPr>
              <a:defRPr sz="2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81361"/>
            <a:ext cx="4629150" cy="4507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285750" indent="0">
              <a:buNone/>
              <a:defRPr sz="1750"/>
            </a:lvl2pPr>
            <a:lvl3pPr marL="572135" indent="0">
              <a:buNone/>
              <a:defRPr sz="1500"/>
            </a:lvl3pPr>
            <a:lvl4pPr marL="857885" indent="0">
              <a:buNone/>
              <a:defRPr sz="1250"/>
            </a:lvl4pPr>
            <a:lvl5pPr marL="1144270" indent="0">
              <a:buNone/>
              <a:defRPr sz="1250"/>
            </a:lvl5pPr>
            <a:lvl6pPr marL="1430020" indent="0">
              <a:buNone/>
              <a:defRPr sz="1250"/>
            </a:lvl6pPr>
            <a:lvl7pPr marL="1716405" indent="0">
              <a:buNone/>
              <a:defRPr sz="1250"/>
            </a:lvl7pPr>
            <a:lvl8pPr marL="2002155" indent="0">
              <a:buNone/>
              <a:defRPr sz="1250"/>
            </a:lvl8pPr>
            <a:lvl9pPr marL="2287905" indent="0">
              <a:buNone/>
              <a:defRPr sz="1250"/>
            </a:lvl9pPr>
          </a:lstStyle>
          <a:p>
            <a:pPr marL="0" marR="0" lvl="0" indent="0" algn="l" defTabSz="7620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716120"/>
            <a:ext cx="3124012" cy="3179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50"/>
            </a:lvl1pPr>
            <a:lvl2pPr marL="285750" indent="0">
              <a:buNone/>
              <a:defRPr sz="1125"/>
            </a:lvl2pPr>
            <a:lvl3pPr marL="572135" indent="0">
              <a:buNone/>
              <a:defRPr sz="1000"/>
            </a:lvl3pPr>
            <a:lvl4pPr marL="857885" indent="0">
              <a:buNone/>
              <a:defRPr sz="875"/>
            </a:lvl4pPr>
            <a:lvl5pPr marL="1144270" indent="0">
              <a:buNone/>
              <a:defRPr sz="875"/>
            </a:lvl5pPr>
            <a:lvl6pPr marL="1430020" indent="0">
              <a:buNone/>
              <a:defRPr sz="875"/>
            </a:lvl6pPr>
            <a:lvl7pPr marL="1716405" indent="0">
              <a:buNone/>
              <a:defRPr sz="875"/>
            </a:lvl7pPr>
            <a:lvl8pPr marL="2002155" indent="0">
              <a:buNone/>
              <a:defRPr sz="875"/>
            </a:lvl8pPr>
            <a:lvl9pPr marL="2287905" indent="0">
              <a:buNone/>
              <a:defRPr sz="875"/>
            </a:lvl9pPr>
          </a:lstStyle>
          <a:p>
            <a:pPr lvl="0" fontAlgn="base"/>
            <a:r>
              <a:rPr lang="zh-CN" altLang="en-US" sz="125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9346"/>
            <a:ext cx="8229600" cy="9534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334760"/>
            <a:ext cx="8229600" cy="3775464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04558"/>
            <a:ext cx="1971675" cy="484777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04558"/>
            <a:ext cx="5800725" cy="484777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936186"/>
            <a:ext cx="6858000" cy="1991547"/>
          </a:xfrm>
          <a:prstGeom prst="rect">
            <a:avLst/>
          </a:prstGeom>
        </p:spPr>
        <p:txBody>
          <a:bodyPr anchor="b"/>
          <a:lstStyle>
            <a:lvl1pPr algn="ctr">
              <a:defRPr sz="3755"/>
            </a:lvl1pPr>
          </a:lstStyle>
          <a:p>
            <a:pPr fontAlgn="base"/>
            <a:r>
              <a:rPr lang="zh-CN" altLang="en-US" sz="375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004535"/>
            <a:ext cx="6858000" cy="13811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/>
            </a:lvl1pPr>
            <a:lvl2pPr marL="285750" indent="0" algn="ctr">
              <a:buNone/>
              <a:defRPr sz="1250"/>
            </a:lvl2pPr>
            <a:lvl3pPr marL="572135" indent="0" algn="ctr">
              <a:buNone/>
              <a:defRPr sz="1125"/>
            </a:lvl3pPr>
            <a:lvl4pPr marL="857885" indent="0" algn="ctr">
              <a:buNone/>
              <a:defRPr sz="1000"/>
            </a:lvl4pPr>
            <a:lvl5pPr marL="1144270" indent="0" algn="ctr">
              <a:buNone/>
              <a:defRPr sz="1000"/>
            </a:lvl5pPr>
            <a:lvl6pPr marL="1430020" indent="0" algn="ctr">
              <a:buNone/>
              <a:defRPr sz="1000"/>
            </a:lvl6pPr>
            <a:lvl7pPr marL="1716405" indent="0" algn="ctr">
              <a:buNone/>
              <a:defRPr sz="1000"/>
            </a:lvl7pPr>
            <a:lvl8pPr marL="2002155" indent="0" algn="ctr">
              <a:buNone/>
              <a:defRPr sz="1000"/>
            </a:lvl8pPr>
            <a:lvl9pPr marL="2287905" indent="0" algn="ctr">
              <a:buNone/>
              <a:defRPr sz="10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9346"/>
            <a:ext cx="8229600" cy="9534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4760"/>
            <a:ext cx="8229600" cy="377546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426128"/>
            <a:ext cx="7886700" cy="2379527"/>
          </a:xfrm>
          <a:prstGeom prst="rect">
            <a:avLst/>
          </a:prstGeom>
        </p:spPr>
        <p:txBody>
          <a:bodyPr anchor="b"/>
          <a:lstStyle>
            <a:lvl1pPr>
              <a:defRPr sz="3755"/>
            </a:lvl1pPr>
          </a:lstStyle>
          <a:p>
            <a:pPr fontAlgn="base"/>
            <a:r>
              <a:rPr lang="zh-CN" altLang="en-US" sz="375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828166"/>
            <a:ext cx="7886700" cy="1251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285750" indent="0">
              <a:buNone/>
              <a:defRPr sz="1250">
                <a:solidFill>
                  <a:schemeClr val="tx1">
                    <a:tint val="75000"/>
                  </a:schemeClr>
                </a:solidFill>
              </a:defRPr>
            </a:lvl2pPr>
            <a:lvl3pPr marL="57213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3pPr>
            <a:lvl4pPr marL="857885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4pPr>
            <a:lvl5pPr marL="114427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5pPr>
            <a:lvl6pPr marL="143002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6pPr>
            <a:lvl7pPr marL="1716405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7pPr>
            <a:lvl8pPr marL="2002155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8pPr>
            <a:lvl9pPr marL="2287905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9346"/>
            <a:ext cx="8229600" cy="9534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22792"/>
            <a:ext cx="3886200" cy="3629541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22792"/>
            <a:ext cx="3886200" cy="3629541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04558"/>
            <a:ext cx="7886700" cy="110568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483432"/>
            <a:ext cx="3655181" cy="68724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750"/>
            </a:lvl1pPr>
            <a:lvl2pPr marL="285750" indent="0">
              <a:buNone/>
              <a:defRPr sz="1500"/>
            </a:lvl2pPr>
            <a:lvl3pPr marL="572135" indent="0">
              <a:buNone/>
              <a:defRPr sz="1250"/>
            </a:lvl3pPr>
            <a:lvl4pPr marL="857885" indent="0">
              <a:buNone/>
              <a:defRPr sz="1125"/>
            </a:lvl4pPr>
            <a:lvl5pPr marL="1144270" indent="0">
              <a:buNone/>
              <a:defRPr sz="1125"/>
            </a:lvl5pPr>
            <a:lvl6pPr marL="1430020" indent="0">
              <a:buNone/>
              <a:defRPr sz="1125"/>
            </a:lvl6pPr>
            <a:lvl7pPr marL="1716405" indent="0">
              <a:buNone/>
              <a:defRPr sz="1125"/>
            </a:lvl7pPr>
            <a:lvl8pPr marL="2002155" indent="0">
              <a:buNone/>
              <a:defRPr sz="1125"/>
            </a:lvl8pPr>
            <a:lvl9pPr marL="2287905" indent="0">
              <a:buNone/>
              <a:defRPr sz="1125"/>
            </a:lvl9pPr>
          </a:lstStyle>
          <a:p>
            <a:pPr lvl="0" fontAlgn="base"/>
            <a:r>
              <a:rPr lang="zh-CN" altLang="en-US" sz="175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223248"/>
            <a:ext cx="3655181" cy="293967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483432"/>
            <a:ext cx="3673182" cy="68724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750"/>
            </a:lvl1pPr>
            <a:lvl2pPr marL="285750" indent="0">
              <a:buNone/>
              <a:defRPr sz="1500"/>
            </a:lvl2pPr>
            <a:lvl3pPr marL="572135" indent="0">
              <a:buNone/>
              <a:defRPr sz="1250"/>
            </a:lvl3pPr>
            <a:lvl4pPr marL="857885" indent="0">
              <a:buNone/>
              <a:defRPr sz="1125"/>
            </a:lvl4pPr>
            <a:lvl5pPr marL="1144270" indent="0">
              <a:buNone/>
              <a:defRPr sz="1125"/>
            </a:lvl5pPr>
            <a:lvl6pPr marL="1430020" indent="0">
              <a:buNone/>
              <a:defRPr sz="1125"/>
            </a:lvl6pPr>
            <a:lvl7pPr marL="1716405" indent="0">
              <a:buNone/>
              <a:defRPr sz="1125"/>
            </a:lvl7pPr>
            <a:lvl8pPr marL="2002155" indent="0">
              <a:buNone/>
              <a:defRPr sz="1125"/>
            </a:lvl8pPr>
            <a:lvl9pPr marL="2287905" indent="0">
              <a:buNone/>
              <a:defRPr sz="1125"/>
            </a:lvl9pPr>
          </a:lstStyle>
          <a:p>
            <a:pPr lvl="0" fontAlgn="base"/>
            <a:r>
              <a:rPr lang="zh-CN" altLang="en-US" sz="175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223248"/>
            <a:ext cx="3673182" cy="293967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9346"/>
            <a:ext cx="8229600" cy="9534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81360"/>
            <a:ext cx="2949178" cy="1334760"/>
          </a:xfrm>
          <a:prstGeom prst="rect">
            <a:avLst/>
          </a:prstGeom>
        </p:spPr>
        <p:txBody>
          <a:bodyPr anchor="b"/>
          <a:lstStyle>
            <a:lvl1pPr>
              <a:defRPr sz="2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823632"/>
            <a:ext cx="4629150" cy="4065192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750"/>
            </a:lvl2pPr>
            <a:lvl3pPr>
              <a:defRPr sz="1500"/>
            </a:lvl3pPr>
            <a:lvl4pPr>
              <a:defRPr sz="1250"/>
            </a:lvl4pPr>
            <a:lvl5pPr>
              <a:defRPr sz="12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z="1750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z="1250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2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716120"/>
            <a:ext cx="2949178" cy="3179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285750" indent="0">
              <a:buNone/>
              <a:defRPr sz="875"/>
            </a:lvl2pPr>
            <a:lvl3pPr marL="572135" indent="0">
              <a:buNone/>
              <a:defRPr sz="750"/>
            </a:lvl3pPr>
            <a:lvl4pPr marL="857885" indent="0">
              <a:buNone/>
              <a:defRPr sz="625"/>
            </a:lvl4pPr>
            <a:lvl5pPr marL="1144270" indent="0">
              <a:buNone/>
              <a:defRPr sz="625"/>
            </a:lvl5pPr>
            <a:lvl6pPr marL="1430020" indent="0">
              <a:buNone/>
              <a:defRPr sz="625"/>
            </a:lvl6pPr>
            <a:lvl7pPr marL="1716405" indent="0">
              <a:buNone/>
              <a:defRPr sz="625"/>
            </a:lvl7pPr>
            <a:lvl8pPr marL="2002155" indent="0">
              <a:buNone/>
              <a:defRPr sz="625"/>
            </a:lvl8pPr>
            <a:lvl9pPr marL="2287905" indent="0">
              <a:buNone/>
              <a:defRPr sz="625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81360"/>
            <a:ext cx="3124012" cy="1334760"/>
          </a:xfrm>
          <a:prstGeom prst="rect">
            <a:avLst/>
          </a:prstGeom>
        </p:spPr>
        <p:txBody>
          <a:bodyPr anchor="b"/>
          <a:lstStyle>
            <a:lvl1pPr>
              <a:defRPr sz="2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81361"/>
            <a:ext cx="4629150" cy="4507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285750" indent="0">
              <a:buNone/>
              <a:defRPr sz="1750"/>
            </a:lvl2pPr>
            <a:lvl3pPr marL="572135" indent="0">
              <a:buNone/>
              <a:defRPr sz="1500"/>
            </a:lvl3pPr>
            <a:lvl4pPr marL="857885" indent="0">
              <a:buNone/>
              <a:defRPr sz="1250"/>
            </a:lvl4pPr>
            <a:lvl5pPr marL="1144270" indent="0">
              <a:buNone/>
              <a:defRPr sz="1250"/>
            </a:lvl5pPr>
            <a:lvl6pPr marL="1430020" indent="0">
              <a:buNone/>
              <a:defRPr sz="1250"/>
            </a:lvl6pPr>
            <a:lvl7pPr marL="1716405" indent="0">
              <a:buNone/>
              <a:defRPr sz="1250"/>
            </a:lvl7pPr>
            <a:lvl8pPr marL="2002155" indent="0">
              <a:buNone/>
              <a:defRPr sz="1250"/>
            </a:lvl8pPr>
            <a:lvl9pPr marL="2287905" indent="0">
              <a:buNone/>
              <a:defRPr sz="1250"/>
            </a:lvl9pPr>
          </a:lstStyle>
          <a:p>
            <a:pPr marL="0" marR="0" lvl="0" indent="0" algn="l" defTabSz="7620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716120"/>
            <a:ext cx="3124012" cy="3179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50"/>
            </a:lvl1pPr>
            <a:lvl2pPr marL="285750" indent="0">
              <a:buNone/>
              <a:defRPr sz="1125"/>
            </a:lvl2pPr>
            <a:lvl3pPr marL="572135" indent="0">
              <a:buNone/>
              <a:defRPr sz="1000"/>
            </a:lvl3pPr>
            <a:lvl4pPr marL="857885" indent="0">
              <a:buNone/>
              <a:defRPr sz="875"/>
            </a:lvl4pPr>
            <a:lvl5pPr marL="1144270" indent="0">
              <a:buNone/>
              <a:defRPr sz="875"/>
            </a:lvl5pPr>
            <a:lvl6pPr marL="1430020" indent="0">
              <a:buNone/>
              <a:defRPr sz="875"/>
            </a:lvl6pPr>
            <a:lvl7pPr marL="1716405" indent="0">
              <a:buNone/>
              <a:defRPr sz="875"/>
            </a:lvl7pPr>
            <a:lvl8pPr marL="2002155" indent="0">
              <a:buNone/>
              <a:defRPr sz="875"/>
            </a:lvl8pPr>
            <a:lvl9pPr marL="2287905" indent="0">
              <a:buNone/>
              <a:defRPr sz="875"/>
            </a:lvl9pPr>
          </a:lstStyle>
          <a:p>
            <a:pPr lvl="0" fontAlgn="base"/>
            <a:r>
              <a:rPr lang="zh-CN" altLang="en-US" sz="125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9346"/>
            <a:ext cx="8229600" cy="9534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334760"/>
            <a:ext cx="8229600" cy="3775464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04558"/>
            <a:ext cx="1971675" cy="484777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04558"/>
            <a:ext cx="5800725" cy="484777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日期占位符 1030"/>
          <p:cNvSpPr>
            <a:spLocks noGrp="1"/>
          </p:cNvSpPr>
          <p:nvPr>
            <p:ph type="dt" sz="half" idx="2"/>
          </p:nvPr>
        </p:nvSpPr>
        <p:spPr>
          <a:xfrm>
            <a:off x="179388" y="5262563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spcBef>
                <a:spcPct val="50000"/>
              </a:spcBef>
              <a:defRPr sz="1170"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矩形 1031"/>
          <p:cNvSpPr/>
          <p:nvPr/>
        </p:nvSpPr>
        <p:spPr>
          <a:xfrm>
            <a:off x="2720975" y="5237163"/>
            <a:ext cx="2911475" cy="5016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7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振动与波课堂练习</a:t>
            </a:r>
          </a:p>
        </p:txBody>
      </p:sp>
      <p:sp>
        <p:nvSpPr>
          <p:cNvPr id="1028" name="直接连接符 1032"/>
          <p:cNvSpPr/>
          <p:nvPr userDrawn="1"/>
        </p:nvSpPr>
        <p:spPr>
          <a:xfrm>
            <a:off x="0" y="5233988"/>
            <a:ext cx="91440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sldNum="0" hdr="0" ftr="0" dt="0"/>
  <p:txStyles>
    <p:titleStyle>
      <a:lvl1pPr algn="ctr" defTabSz="762000" rtl="0" fontAlgn="base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285750" indent="-285750" algn="l" defTabSz="762000" rtl="0" fontAlgn="base">
        <a:spcBef>
          <a:spcPts val="75"/>
        </a:spcBef>
        <a:spcAft>
          <a:spcPct val="0"/>
        </a:spcAft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19125" lvl="1" indent="-238125" algn="l" defTabSz="762000" rtl="0" fontAlgn="base">
        <a:spcBef>
          <a:spcPts val="75"/>
        </a:spcBef>
        <a:spcAft>
          <a:spcPct val="0"/>
        </a:spcAft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952500" lvl="2" indent="-190500" algn="l" defTabSz="762000" rtl="0" fontAlgn="base">
        <a:spcBef>
          <a:spcPts val="75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5405" lvl="3" indent="-190500" algn="l" defTabSz="762000" rtl="0" fontAlgn="base">
        <a:spcBef>
          <a:spcPts val="75"/>
        </a:spcBef>
        <a:spcAft>
          <a:spcPct val="0"/>
        </a:spcAft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716405" lvl="4" indent="-190500" algn="l" defTabSz="762000" rtl="0" fontAlgn="base">
        <a:spcBef>
          <a:spcPts val="75"/>
        </a:spcBef>
        <a:spcAft>
          <a:spcPct val="0"/>
        </a:spcAft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97405" lvl="5" indent="-190500" algn="l" defTabSz="762635" rtl="0" eaLnBrk="1" fontAlgn="base" latinLnBrk="0" hangingPunct="1">
        <a:lnSpc>
          <a:spcPct val="100000"/>
        </a:lnSpc>
        <a:spcBef>
          <a:spcPts val="80"/>
        </a:spcBef>
        <a:spcAft>
          <a:spcPct val="0"/>
        </a:spcAft>
        <a:buChar char="»"/>
        <a:defRPr sz="167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479040" lvl="6" indent="-190500" algn="l" defTabSz="762635" rtl="0" eaLnBrk="1" fontAlgn="base" latinLnBrk="0" hangingPunct="1">
        <a:lnSpc>
          <a:spcPct val="100000"/>
        </a:lnSpc>
        <a:spcBef>
          <a:spcPts val="80"/>
        </a:spcBef>
        <a:spcAft>
          <a:spcPct val="0"/>
        </a:spcAft>
        <a:buChar char="»"/>
        <a:defRPr sz="167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860040" lvl="7" indent="-190500" algn="l" defTabSz="762635" rtl="0" eaLnBrk="1" fontAlgn="base" latinLnBrk="0" hangingPunct="1">
        <a:lnSpc>
          <a:spcPct val="100000"/>
        </a:lnSpc>
        <a:spcBef>
          <a:spcPts val="80"/>
        </a:spcBef>
        <a:spcAft>
          <a:spcPct val="0"/>
        </a:spcAft>
        <a:buChar char="»"/>
        <a:defRPr sz="167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241675" lvl="8" indent="-190500" algn="l" defTabSz="762635" rtl="0" eaLnBrk="1" fontAlgn="base" latinLnBrk="0" hangingPunct="1">
        <a:lnSpc>
          <a:spcPct val="100000"/>
        </a:lnSpc>
        <a:spcBef>
          <a:spcPts val="80"/>
        </a:spcBef>
        <a:spcAft>
          <a:spcPct val="0"/>
        </a:spcAft>
        <a:buChar char="»"/>
        <a:defRPr sz="167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81635" lvl="1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762635" lvl="2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144270" lvl="3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525270" lvl="4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1906905" lvl="5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287905" lvl="6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2669540" lvl="7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051175" lvl="8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日期占位符 1030"/>
          <p:cNvSpPr>
            <a:spLocks noGrp="1"/>
          </p:cNvSpPr>
          <p:nvPr>
            <p:ph type="dt" sz="half" idx="2"/>
          </p:nvPr>
        </p:nvSpPr>
        <p:spPr>
          <a:xfrm>
            <a:off x="179388" y="5262563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spcBef>
                <a:spcPct val="50000"/>
              </a:spcBef>
              <a:defRPr sz="1170" noProof="1" dirty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7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矩形 1031"/>
          <p:cNvSpPr/>
          <p:nvPr/>
        </p:nvSpPr>
        <p:spPr>
          <a:xfrm>
            <a:off x="2720975" y="5237163"/>
            <a:ext cx="2911475" cy="5016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7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振动与波课堂练习</a:t>
            </a:r>
          </a:p>
        </p:txBody>
      </p:sp>
      <p:sp>
        <p:nvSpPr>
          <p:cNvPr id="2052" name="直接连接符 1032"/>
          <p:cNvSpPr/>
          <p:nvPr userDrawn="1"/>
        </p:nvSpPr>
        <p:spPr>
          <a:xfrm>
            <a:off x="0" y="5233988"/>
            <a:ext cx="91440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sldNum="0" hdr="0" ftr="0" dt="0"/>
  <p:txStyles>
    <p:titleStyle>
      <a:lvl1pPr algn="ctr" defTabSz="762000" rtl="0" fontAlgn="base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defTabSz="762000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285750" indent="-285750" algn="l" defTabSz="762000" rtl="0" fontAlgn="base">
        <a:spcBef>
          <a:spcPts val="75"/>
        </a:spcBef>
        <a:spcAft>
          <a:spcPct val="0"/>
        </a:spcAft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19125" lvl="1" indent="-238125" algn="l" defTabSz="762000" rtl="0" fontAlgn="base">
        <a:spcBef>
          <a:spcPts val="75"/>
        </a:spcBef>
        <a:spcAft>
          <a:spcPct val="0"/>
        </a:spcAft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952500" lvl="2" indent="-190500" algn="l" defTabSz="762000" rtl="0" fontAlgn="base">
        <a:spcBef>
          <a:spcPts val="75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5405" lvl="3" indent="-190500" algn="l" defTabSz="762000" rtl="0" fontAlgn="base">
        <a:spcBef>
          <a:spcPts val="75"/>
        </a:spcBef>
        <a:spcAft>
          <a:spcPct val="0"/>
        </a:spcAft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716405" lvl="4" indent="-190500" algn="l" defTabSz="762000" rtl="0" fontAlgn="base">
        <a:spcBef>
          <a:spcPts val="75"/>
        </a:spcBef>
        <a:spcAft>
          <a:spcPct val="0"/>
        </a:spcAft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97405" lvl="5" indent="-190500" algn="l" defTabSz="762635" rtl="0" eaLnBrk="1" fontAlgn="base" latinLnBrk="0" hangingPunct="1">
        <a:lnSpc>
          <a:spcPct val="100000"/>
        </a:lnSpc>
        <a:spcBef>
          <a:spcPts val="80"/>
        </a:spcBef>
        <a:spcAft>
          <a:spcPct val="0"/>
        </a:spcAft>
        <a:buChar char="»"/>
        <a:defRPr sz="167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479040" lvl="6" indent="-190500" algn="l" defTabSz="762635" rtl="0" eaLnBrk="1" fontAlgn="base" latinLnBrk="0" hangingPunct="1">
        <a:lnSpc>
          <a:spcPct val="100000"/>
        </a:lnSpc>
        <a:spcBef>
          <a:spcPts val="80"/>
        </a:spcBef>
        <a:spcAft>
          <a:spcPct val="0"/>
        </a:spcAft>
        <a:buChar char="»"/>
        <a:defRPr sz="167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860040" lvl="7" indent="-190500" algn="l" defTabSz="762635" rtl="0" eaLnBrk="1" fontAlgn="base" latinLnBrk="0" hangingPunct="1">
        <a:lnSpc>
          <a:spcPct val="100000"/>
        </a:lnSpc>
        <a:spcBef>
          <a:spcPts val="80"/>
        </a:spcBef>
        <a:spcAft>
          <a:spcPct val="0"/>
        </a:spcAft>
        <a:buChar char="»"/>
        <a:defRPr sz="167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241675" lvl="8" indent="-190500" algn="l" defTabSz="762635" rtl="0" eaLnBrk="1" fontAlgn="base" latinLnBrk="0" hangingPunct="1">
        <a:lnSpc>
          <a:spcPct val="100000"/>
        </a:lnSpc>
        <a:spcBef>
          <a:spcPts val="80"/>
        </a:spcBef>
        <a:spcAft>
          <a:spcPct val="0"/>
        </a:spcAft>
        <a:buChar char="»"/>
        <a:defRPr sz="167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81635" lvl="1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762635" lvl="2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144270" lvl="3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525270" lvl="4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1906905" lvl="5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287905" lvl="6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2669540" lvl="7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051175" lvl="8" indent="0" algn="l" defTabSz="762635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oleObject" Target="../embeddings/oleObject1.bin"/><Relationship Id="rId3" Type="http://schemas.openxmlformats.org/officeDocument/2006/relationships/tags" Target="../tags/tag4.xml"/><Relationship Id="rId21" Type="http://schemas.openxmlformats.org/officeDocument/2006/relationships/image" Target="../media/image2.wmf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oleObject" Target="../embeddings/oleObject2.bin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image" Target="../media/image3.wmf"/><Relationship Id="rId10" Type="http://schemas.openxmlformats.org/officeDocument/2006/relationships/tags" Target="../tags/tag11.xml"/><Relationship Id="rId19" Type="http://schemas.openxmlformats.org/officeDocument/2006/relationships/image" Target="../media/image1.wmf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4.wmf"/><Relationship Id="rId7" Type="http://schemas.openxmlformats.org/officeDocument/2006/relationships/oleObject" Target="../embeddings/oleObject6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0.wmf"/><Relationship Id="rId18" Type="http://schemas.openxmlformats.org/officeDocument/2006/relationships/oleObject" Target="../embeddings/oleObject12.bin"/><Relationship Id="rId26" Type="http://schemas.openxmlformats.org/officeDocument/2006/relationships/oleObject" Target="../embeddings/oleObject16.bin"/><Relationship Id="rId3" Type="http://schemas.openxmlformats.org/officeDocument/2006/relationships/tags" Target="../tags/tag20.xml"/><Relationship Id="rId21" Type="http://schemas.openxmlformats.org/officeDocument/2006/relationships/image" Target="../media/image14.wmf"/><Relationship Id="rId7" Type="http://schemas.openxmlformats.org/officeDocument/2006/relationships/oleObject" Target="../embeddings/oleObject7.bin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2.wmf"/><Relationship Id="rId25" Type="http://schemas.openxmlformats.org/officeDocument/2006/relationships/image" Target="../media/image16.wmf"/><Relationship Id="rId2" Type="http://schemas.openxmlformats.org/officeDocument/2006/relationships/tags" Target="../tags/tag19.xml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3.bin"/><Relationship Id="rId1" Type="http://schemas.openxmlformats.org/officeDocument/2006/relationships/tags" Target="../tags/tag18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9.wmf"/><Relationship Id="rId24" Type="http://schemas.openxmlformats.org/officeDocument/2006/relationships/oleObject" Target="../embeddings/oleObject15.bin"/><Relationship Id="rId5" Type="http://schemas.openxmlformats.org/officeDocument/2006/relationships/tags" Target="../tags/tag22.xml"/><Relationship Id="rId15" Type="http://schemas.openxmlformats.org/officeDocument/2006/relationships/image" Target="../media/image11.wmf"/><Relationship Id="rId23" Type="http://schemas.openxmlformats.org/officeDocument/2006/relationships/image" Target="../media/image15.wmf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13.wmf"/><Relationship Id="rId4" Type="http://schemas.openxmlformats.org/officeDocument/2006/relationships/tags" Target="../tags/tag21.xml"/><Relationship Id="rId9" Type="http://schemas.openxmlformats.org/officeDocument/2006/relationships/image" Target="../media/image5.png"/><Relationship Id="rId14" Type="http://schemas.openxmlformats.org/officeDocument/2006/relationships/oleObject" Target="../embeddings/oleObject10.bin"/><Relationship Id="rId22" Type="http://schemas.openxmlformats.org/officeDocument/2006/relationships/oleObject" Target="../embeddings/oleObject14.bin"/><Relationship Id="rId27" Type="http://schemas.openxmlformats.org/officeDocument/2006/relationships/image" Target="../media/image1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矩形 103443"/>
          <p:cNvSpPr/>
          <p:nvPr/>
        </p:nvSpPr>
        <p:spPr>
          <a:xfrm>
            <a:off x="755015" y="3840698"/>
            <a:ext cx="7686675" cy="132343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</a:rPr>
              <a:t>一在绳上传播的入射波方程为 </a:t>
            </a:r>
            <a:r>
              <a:rPr lang="zh-CN" altLang="en-US" sz="2000" b="1" i="1" dirty="0">
                <a:solidFill>
                  <a:srgbClr val="0000FF"/>
                </a:solidFill>
              </a:rPr>
              <a:t>y</a:t>
            </a:r>
            <a:r>
              <a:rPr lang="zh-CN" altLang="en-US" sz="20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</a:rPr>
              <a:t> = </a:t>
            </a:r>
            <a:r>
              <a:rPr lang="zh-CN" altLang="en-US" sz="2000" b="1" i="1" dirty="0">
                <a:solidFill>
                  <a:srgbClr val="0000FF"/>
                </a:solidFill>
              </a:rPr>
              <a:t>A</a:t>
            </a:r>
            <a:r>
              <a:rPr lang="zh-CN" altLang="en-US" sz="2000" b="1" dirty="0">
                <a:solidFill>
                  <a:srgbClr val="0000FF"/>
                </a:solidFill>
              </a:rPr>
              <a:t>cos(</a:t>
            </a:r>
            <a:r>
              <a:rPr lang="zh-CN" altLang="en-US" sz="2000" b="1" dirty="0">
                <a:solidFill>
                  <a:srgbClr val="0000FF"/>
                </a:solidFill>
                <a:sym typeface="Symbol" panose="05050102010706020507" pitchFamily="18" charset="2"/>
              </a:rPr>
              <a:t>t+2</a:t>
            </a:r>
            <a:r>
              <a:rPr lang="zh-CN" altLang="en-US" sz="2000" b="1" i="1" dirty="0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r>
              <a:rPr lang="zh-CN" altLang="en-US" sz="2000" b="1" dirty="0">
                <a:solidFill>
                  <a:srgbClr val="0000FF"/>
                </a:solidFill>
                <a:sym typeface="Symbol" panose="05050102010706020507" pitchFamily="18" charset="2"/>
              </a:rPr>
              <a:t>/</a:t>
            </a:r>
            <a:r>
              <a:rPr lang="zh-CN" altLang="en-US" sz="2000" b="1" i="1" dirty="0">
                <a:solidFill>
                  <a:srgbClr val="0000FF"/>
                </a:solidFill>
                <a:sym typeface="Symbol" panose="05050102010706020507" pitchFamily="18" charset="2"/>
              </a:rPr>
              <a:t></a:t>
            </a:r>
            <a:r>
              <a:rPr lang="zh-CN" altLang="en-US" sz="2000" b="1" dirty="0">
                <a:solidFill>
                  <a:srgbClr val="0000FF"/>
                </a:solidFill>
              </a:rPr>
              <a:t>)，入射波在</a:t>
            </a:r>
            <a:r>
              <a:rPr lang="zh-CN" altLang="en-US" sz="2000" b="1" i="1" dirty="0">
                <a:solidFill>
                  <a:srgbClr val="0000FF"/>
                </a:solidFill>
              </a:rPr>
              <a:t> x</a:t>
            </a:r>
            <a:r>
              <a:rPr lang="zh-CN" altLang="en-US" sz="2000" b="1" dirty="0">
                <a:solidFill>
                  <a:srgbClr val="0000FF"/>
                </a:solidFill>
              </a:rPr>
              <a:t> =</a:t>
            </a:r>
            <a:r>
              <a:rPr lang="zh-CN" altLang="en-US" sz="2000" b="1" i="1" dirty="0">
                <a:solidFill>
                  <a:srgbClr val="0000FF"/>
                </a:solidFill>
              </a:rPr>
              <a:t> </a:t>
            </a:r>
            <a:r>
              <a:rPr lang="zh-CN" altLang="en-US" sz="2000" b="1" i="1" dirty="0">
                <a:solidFill>
                  <a:srgbClr val="0000FF"/>
                </a:solidFill>
                <a:sym typeface="Symbol" panose="05050102010706020507" pitchFamily="18" charset="2"/>
              </a:rPr>
              <a:t></a:t>
            </a:r>
            <a:r>
              <a:rPr lang="zh-CN" altLang="en-US" sz="2000" b="1" dirty="0">
                <a:solidFill>
                  <a:srgbClr val="0000FF"/>
                </a:solidFill>
              </a:rPr>
              <a:t> /8处反射，反射端为固定端。设反射波不衰减，试求：(1)反射波的方程；(2)驻波方程; (3)位于 </a:t>
            </a:r>
            <a:r>
              <a:rPr lang="zh-CN" altLang="en-US" sz="2000" b="1" i="1" dirty="0">
                <a:solidFill>
                  <a:srgbClr val="0000FF"/>
                </a:solidFill>
              </a:rPr>
              <a:t>x</a:t>
            </a:r>
            <a:r>
              <a:rPr lang="zh-CN" altLang="en-US" sz="2000" b="1" dirty="0">
                <a:solidFill>
                  <a:srgbClr val="0000FF"/>
                </a:solidFill>
              </a:rPr>
              <a:t> = 0 到 </a:t>
            </a:r>
            <a:r>
              <a:rPr lang="zh-CN" altLang="en-US" sz="2000" b="1" i="1" dirty="0">
                <a:solidFill>
                  <a:srgbClr val="0000FF"/>
                </a:solidFill>
              </a:rPr>
              <a:t>x </a:t>
            </a:r>
            <a:r>
              <a:rPr lang="zh-CN" altLang="en-US" sz="2000" b="1" dirty="0">
                <a:solidFill>
                  <a:srgbClr val="0000FF"/>
                </a:solidFill>
              </a:rPr>
              <a:t>= 2</a:t>
            </a:r>
            <a:r>
              <a:rPr lang="zh-CN" altLang="en-US" sz="2000" b="1" i="1" dirty="0">
                <a:solidFill>
                  <a:srgbClr val="0000FF"/>
                </a:solidFill>
                <a:sym typeface="Symbol" panose="05050102010706020507" pitchFamily="18" charset="2"/>
              </a:rPr>
              <a:t></a:t>
            </a:r>
            <a:r>
              <a:rPr lang="zh-CN" altLang="en-US" sz="2000" b="1" dirty="0">
                <a:solidFill>
                  <a:srgbClr val="0000FF"/>
                </a:solidFill>
              </a:rPr>
              <a:t>之间的波节位置。</a:t>
            </a:r>
          </a:p>
          <a:p>
            <a:pPr eaLnBrk="0" hangingPunct="0"/>
            <a:endParaRPr lang="zh-CN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33" name="矩形 105523"/>
          <p:cNvSpPr/>
          <p:nvPr>
            <p:custDataLst>
              <p:tags r:id="rId1"/>
            </p:custDataLst>
          </p:nvPr>
        </p:nvSpPr>
        <p:spPr>
          <a:xfrm>
            <a:off x="755015" y="123825"/>
            <a:ext cx="754316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  <a:sym typeface="+mn-ea"/>
              </a:rPr>
              <a:t>在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图示系统中，弹簧倔强系数为</a:t>
            </a:r>
            <a:r>
              <a:rPr lang="en-US" altLang="zh-CN" sz="2000" b="1" i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K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，圆盘的质量为</a:t>
            </a:r>
            <a:r>
              <a:rPr lang="en-US" altLang="zh-CN" sz="2000" b="1" i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m</a:t>
            </a:r>
            <a:r>
              <a:rPr lang="en-US" altLang="zh-CN" sz="2000" b="1" baseline="-2500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，半径为</a:t>
            </a:r>
            <a:r>
              <a:rPr lang="en-US" altLang="zh-CN" sz="2000" b="1" i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R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，重物的质量为</a:t>
            </a:r>
            <a:r>
              <a:rPr lang="en-US" altLang="zh-CN" sz="2000" b="1" i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m</a:t>
            </a:r>
            <a:r>
              <a:rPr lang="en-US" altLang="zh-CN" sz="2000" b="1" baseline="-2500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。绳、弹簧及定滑轮的质量忽略不计。运动中绳与盘之间，盘与地之间无相对滑动，现将盘</a:t>
            </a:r>
            <a:r>
              <a:rPr lang="en-US" altLang="zh-CN" sz="2000" b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C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从平衡位置向右平移</a:t>
            </a:r>
            <a:r>
              <a:rPr lang="en-US" altLang="zh-CN" sz="2000" b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A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。后静止释放。证明系统将作简谐振动，并求出振动周期。以释放这一时刻作为计时起点，平衡位置为坐标原点，水平向右为</a:t>
            </a:r>
            <a:r>
              <a:rPr lang="en-US" altLang="zh-CN" sz="2000" b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x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轴正方向，写出振动方程。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 </a:t>
            </a:r>
            <a:endParaRPr lang="zh-CN" altLang="en-US" sz="20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7177" name="组合 7176"/>
          <p:cNvGrpSpPr/>
          <p:nvPr/>
        </p:nvGrpSpPr>
        <p:grpSpPr>
          <a:xfrm>
            <a:off x="900430" y="2184400"/>
            <a:ext cx="2879725" cy="1473200"/>
            <a:chOff x="2556" y="13134"/>
            <a:chExt cx="4975" cy="2502"/>
          </a:xfrm>
        </p:grpSpPr>
        <p:sp>
          <p:nvSpPr>
            <p:cNvPr id="7178" name="直接连接符 7177"/>
            <p:cNvSpPr/>
            <p:nvPr>
              <p:custDataLst>
                <p:tags r:id="rId2"/>
              </p:custDataLst>
            </p:nvPr>
          </p:nvSpPr>
          <p:spPr>
            <a:xfrm>
              <a:off x="7020" y="13134"/>
              <a:ext cx="0" cy="936"/>
            </a:xfrm>
            <a:prstGeom prst="line">
              <a:avLst/>
            </a:prstGeom>
            <a:ln w="222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9" name="直接连接符 7178"/>
            <p:cNvSpPr/>
            <p:nvPr>
              <p:custDataLst>
                <p:tags r:id="rId3"/>
              </p:custDataLst>
            </p:nvPr>
          </p:nvSpPr>
          <p:spPr>
            <a:xfrm>
              <a:off x="2556" y="13608"/>
              <a:ext cx="0" cy="1560"/>
            </a:xfrm>
            <a:prstGeom prst="line">
              <a:avLst/>
            </a:prstGeom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0" name="直接连接符 7179"/>
            <p:cNvSpPr/>
            <p:nvPr>
              <p:custDataLst>
                <p:tags r:id="rId4"/>
              </p:custDataLst>
            </p:nvPr>
          </p:nvSpPr>
          <p:spPr>
            <a:xfrm>
              <a:off x="2556" y="14388"/>
              <a:ext cx="360" cy="0"/>
            </a:xfrm>
            <a:prstGeom prst="line">
              <a:avLst/>
            </a:prstGeom>
            <a:ln w="222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1" name="任意多边形 7180"/>
            <p:cNvSpPr/>
            <p:nvPr>
              <p:custDataLst>
                <p:tags r:id="rId5"/>
              </p:custDataLst>
            </p:nvPr>
          </p:nvSpPr>
          <p:spPr>
            <a:xfrm>
              <a:off x="2904" y="14256"/>
              <a:ext cx="1224" cy="324"/>
            </a:xfrm>
            <a:custGeom>
              <a:avLst/>
              <a:gdLst/>
              <a:ahLst/>
              <a:cxnLst/>
              <a:rect l="0" t="0" r="0" b="0"/>
              <a:pathLst>
                <a:path w="1800" h="520">
                  <a:moveTo>
                    <a:pt x="0" y="208"/>
                  </a:moveTo>
                  <a:cubicBezTo>
                    <a:pt x="60" y="104"/>
                    <a:pt x="120" y="0"/>
                    <a:pt x="180" y="52"/>
                  </a:cubicBezTo>
                  <a:cubicBezTo>
                    <a:pt x="240" y="104"/>
                    <a:pt x="300" y="520"/>
                    <a:pt x="360" y="520"/>
                  </a:cubicBezTo>
                  <a:cubicBezTo>
                    <a:pt x="420" y="520"/>
                    <a:pt x="480" y="52"/>
                    <a:pt x="540" y="52"/>
                  </a:cubicBezTo>
                  <a:cubicBezTo>
                    <a:pt x="600" y="52"/>
                    <a:pt x="660" y="520"/>
                    <a:pt x="720" y="520"/>
                  </a:cubicBezTo>
                  <a:cubicBezTo>
                    <a:pt x="780" y="520"/>
                    <a:pt x="840" y="52"/>
                    <a:pt x="900" y="52"/>
                  </a:cubicBezTo>
                  <a:cubicBezTo>
                    <a:pt x="960" y="52"/>
                    <a:pt x="1020" y="520"/>
                    <a:pt x="1080" y="520"/>
                  </a:cubicBezTo>
                  <a:cubicBezTo>
                    <a:pt x="1140" y="520"/>
                    <a:pt x="1200" y="52"/>
                    <a:pt x="1260" y="52"/>
                  </a:cubicBezTo>
                  <a:cubicBezTo>
                    <a:pt x="1320" y="52"/>
                    <a:pt x="1380" y="520"/>
                    <a:pt x="1440" y="520"/>
                  </a:cubicBezTo>
                  <a:cubicBezTo>
                    <a:pt x="1500" y="520"/>
                    <a:pt x="1560" y="78"/>
                    <a:pt x="1620" y="52"/>
                  </a:cubicBezTo>
                  <a:cubicBezTo>
                    <a:pt x="1680" y="26"/>
                    <a:pt x="1740" y="195"/>
                    <a:pt x="1800" y="364"/>
                  </a:cubicBezTo>
                </a:path>
              </a:pathLst>
            </a:custGeom>
            <a:noFill/>
            <a:ln w="222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" name="直接连接符 7181"/>
            <p:cNvSpPr/>
            <p:nvPr>
              <p:custDataLst>
                <p:tags r:id="rId6"/>
              </p:custDataLst>
            </p:nvPr>
          </p:nvSpPr>
          <p:spPr>
            <a:xfrm>
              <a:off x="4128" y="14484"/>
              <a:ext cx="1260" cy="0"/>
            </a:xfrm>
            <a:prstGeom prst="line">
              <a:avLst/>
            </a:prstGeom>
            <a:ln w="222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3" name="直接连接符 7182"/>
            <p:cNvSpPr/>
            <p:nvPr>
              <p:custDataLst>
                <p:tags r:id="rId7"/>
              </p:custDataLst>
            </p:nvPr>
          </p:nvSpPr>
          <p:spPr>
            <a:xfrm>
              <a:off x="4692" y="15084"/>
              <a:ext cx="1440" cy="0"/>
            </a:xfrm>
            <a:prstGeom prst="line">
              <a:avLst/>
            </a:prstGeom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4" name="椭圆 7183"/>
            <p:cNvSpPr/>
            <p:nvPr>
              <p:custDataLst>
                <p:tags r:id="rId8"/>
              </p:custDataLst>
            </p:nvPr>
          </p:nvSpPr>
          <p:spPr>
            <a:xfrm>
              <a:off x="4860" y="13920"/>
              <a:ext cx="1080" cy="1131"/>
            </a:xfrm>
            <a:prstGeom prst="ellipse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" name="直接连接符 7184"/>
            <p:cNvSpPr/>
            <p:nvPr>
              <p:custDataLst>
                <p:tags r:id="rId9"/>
              </p:custDataLst>
            </p:nvPr>
          </p:nvSpPr>
          <p:spPr>
            <a:xfrm>
              <a:off x="5400" y="13920"/>
              <a:ext cx="1620" cy="0"/>
            </a:xfrm>
            <a:prstGeom prst="line">
              <a:avLst/>
            </a:prstGeom>
            <a:ln w="222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6" name="直接连接符 7185"/>
            <p:cNvSpPr/>
            <p:nvPr>
              <p:custDataLst>
                <p:tags r:id="rId10"/>
              </p:custDataLst>
            </p:nvPr>
          </p:nvSpPr>
          <p:spPr>
            <a:xfrm>
              <a:off x="6744" y="13137"/>
              <a:ext cx="540" cy="0"/>
            </a:xfrm>
            <a:prstGeom prst="line">
              <a:avLst/>
            </a:prstGeom>
            <a:ln w="412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7" name="椭圆 7186"/>
            <p:cNvSpPr/>
            <p:nvPr>
              <p:custDataLst>
                <p:tags r:id="rId11"/>
              </p:custDataLst>
            </p:nvPr>
          </p:nvSpPr>
          <p:spPr>
            <a:xfrm>
              <a:off x="6893" y="13937"/>
              <a:ext cx="283" cy="283"/>
            </a:xfrm>
            <a:prstGeom prst="ellipse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8" name="直接连接符 7187"/>
            <p:cNvSpPr/>
            <p:nvPr>
              <p:custDataLst>
                <p:tags r:id="rId12"/>
              </p:custDataLst>
            </p:nvPr>
          </p:nvSpPr>
          <p:spPr>
            <a:xfrm>
              <a:off x="7176" y="14076"/>
              <a:ext cx="0" cy="780"/>
            </a:xfrm>
            <a:prstGeom prst="line">
              <a:avLst/>
            </a:prstGeom>
            <a:ln w="222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9" name="矩形 7188"/>
            <p:cNvSpPr/>
            <p:nvPr>
              <p:custDataLst>
                <p:tags r:id="rId13"/>
              </p:custDataLst>
            </p:nvPr>
          </p:nvSpPr>
          <p:spPr>
            <a:xfrm>
              <a:off x="7011" y="14856"/>
              <a:ext cx="360" cy="312"/>
            </a:xfrm>
            <a:prstGeom prst="rect">
              <a:avLst/>
            </a:prstGeom>
            <a:noFill/>
            <a:ln w="222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190" name="对象 7189"/>
            <p:cNvGraphicFramePr/>
            <p:nvPr>
              <p:custDataLst>
                <p:tags r:id="rId14"/>
              </p:custDataLst>
            </p:nvPr>
          </p:nvGraphicFramePr>
          <p:xfrm>
            <a:off x="5281" y="14232"/>
            <a:ext cx="479" cy="7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90500" imgH="405765" progId="">
                    <p:embed/>
                  </p:oleObj>
                </mc:Choice>
                <mc:Fallback>
                  <p:oleObj r:id="rId18" imgW="190500" imgH="405765" progId="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281" y="14232"/>
                          <a:ext cx="479" cy="7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1" name="对象 7190"/>
            <p:cNvGraphicFramePr/>
            <p:nvPr>
              <p:custDataLst>
                <p:tags r:id="rId15"/>
              </p:custDataLst>
            </p:nvPr>
          </p:nvGraphicFramePr>
          <p:xfrm>
            <a:off x="5220" y="14388"/>
            <a:ext cx="287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114300" imgH="152400" progId="">
                    <p:embed/>
                  </p:oleObj>
                </mc:Choice>
                <mc:Fallback>
                  <p:oleObj r:id="rId20" imgW="114300" imgH="152400" progId="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220" y="14388"/>
                          <a:ext cx="287" cy="2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2" name="对象 7191"/>
            <p:cNvGraphicFramePr/>
            <p:nvPr>
              <p:custDataLst>
                <p:tags r:id="rId16"/>
              </p:custDataLst>
            </p:nvPr>
          </p:nvGraphicFramePr>
          <p:xfrm>
            <a:off x="7020" y="15196"/>
            <a:ext cx="511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203200" imgH="228600" progId="">
                    <p:embed/>
                  </p:oleObj>
                </mc:Choice>
                <mc:Fallback>
                  <p:oleObj r:id="rId22" imgW="203200" imgH="228600" progId="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7020" y="15196"/>
                          <a:ext cx="511" cy="4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3F09CEE-B004-08FC-5238-3A03A70FA0A8}"/>
              </a:ext>
            </a:extLst>
          </p:cNvPr>
          <p:cNvGrpSpPr/>
          <p:nvPr/>
        </p:nvGrpSpPr>
        <p:grpSpPr>
          <a:xfrm>
            <a:off x="4422087" y="2332880"/>
            <a:ext cx="3606297" cy="1247081"/>
            <a:chOff x="4286647" y="1923777"/>
            <a:chExt cx="3741737" cy="1535113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9A6F0FCD-7BFB-6209-9DF9-7D240F494C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6647" y="1923777"/>
              <a:ext cx="3741737" cy="1535113"/>
              <a:chOff x="7099" y="2247"/>
              <a:chExt cx="5892" cy="2417"/>
            </a:xfrm>
          </p:grpSpPr>
          <p:sp>
            <p:nvSpPr>
              <p:cNvPr id="3" name="直接连接符 20482">
                <a:extLst>
                  <a:ext uri="{FF2B5EF4-FFF2-40B4-BE49-F238E27FC236}">
                    <a16:creationId xmlns:a16="http://schemas.microsoft.com/office/drawing/2014/main" id="{332F13A6-E7D9-A3A6-9BF9-04E202BEDA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99" y="3948"/>
                <a:ext cx="5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" name="直接连接符 20483">
                <a:extLst>
                  <a:ext uri="{FF2B5EF4-FFF2-40B4-BE49-F238E27FC236}">
                    <a16:creationId xmlns:a16="http://schemas.microsoft.com/office/drawing/2014/main" id="{A9C3E1BB-BF32-BD59-0553-5E6EA9DCA9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01" y="2347"/>
                <a:ext cx="0" cy="160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" name="椭圆 20484">
                <a:extLst>
                  <a:ext uri="{FF2B5EF4-FFF2-40B4-BE49-F238E27FC236}">
                    <a16:creationId xmlns:a16="http://schemas.microsoft.com/office/drawing/2014/main" id="{6461F8B6-D1D4-C031-8BDF-C4E6FA682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00" y="3904"/>
                <a:ext cx="100" cy="93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000"/>
              </a:p>
            </p:txBody>
          </p:sp>
          <p:sp>
            <p:nvSpPr>
              <p:cNvPr id="6" name="矩形 20485">
                <a:extLst>
                  <a:ext uri="{FF2B5EF4-FFF2-40B4-BE49-F238E27FC236}">
                    <a16:creationId xmlns:a16="http://schemas.microsoft.com/office/drawing/2014/main" id="{AF897E14-76D3-542B-C897-BD59ADB7F8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0" y="4036"/>
                <a:ext cx="1114" cy="6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/>
                  <a:t>x</a:t>
                </a:r>
                <a:r>
                  <a:rPr lang="en-US" altLang="zh-CN" sz="2000"/>
                  <a:t> = 0</a:t>
                </a:r>
                <a:endParaRPr lang="zh-CN" altLang="en-US" sz="2000"/>
              </a:p>
            </p:txBody>
          </p:sp>
          <p:sp>
            <p:nvSpPr>
              <p:cNvPr id="7" name="矩形 20486">
                <a:extLst>
                  <a:ext uri="{FF2B5EF4-FFF2-40B4-BE49-F238E27FC236}">
                    <a16:creationId xmlns:a16="http://schemas.microsoft.com/office/drawing/2014/main" id="{E4B23050-2C87-CAD3-3BB0-EEAE042D3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01" y="4015"/>
                <a:ext cx="919" cy="6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>
                    <a:sym typeface="Symbol" panose="05050102010706020507" pitchFamily="18" charset="2"/>
                  </a:rPr>
                  <a:t></a:t>
                </a:r>
                <a:r>
                  <a:rPr lang="en-US" altLang="zh-CN" sz="2000"/>
                  <a:t> /8</a:t>
                </a:r>
                <a:endParaRPr lang="zh-CN" altLang="en-US" sz="2000"/>
              </a:p>
            </p:txBody>
          </p:sp>
          <p:sp>
            <p:nvSpPr>
              <p:cNvPr id="8" name="直接连接符 20487">
                <a:extLst>
                  <a:ext uri="{FF2B5EF4-FFF2-40B4-BE49-F238E27FC236}">
                    <a16:creationId xmlns:a16="http://schemas.microsoft.com/office/drawing/2014/main" id="{A9758A5D-B77A-BF23-375C-21E6254AF3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401" y="3348"/>
                <a:ext cx="200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矩形 20488">
                <a:extLst>
                  <a:ext uri="{FF2B5EF4-FFF2-40B4-BE49-F238E27FC236}">
                    <a16:creationId xmlns:a16="http://schemas.microsoft.com/office/drawing/2014/main" id="{DAC75F5A-ADA5-3470-0FAC-BE0EE69344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03" y="3047"/>
                <a:ext cx="1488" cy="6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dirty="0"/>
                  <a:t>入射波</a:t>
                </a:r>
              </a:p>
            </p:txBody>
          </p:sp>
          <p:sp>
            <p:nvSpPr>
              <p:cNvPr id="10" name="直接连接符 20489">
                <a:extLst>
                  <a:ext uri="{FF2B5EF4-FFF2-40B4-BE49-F238E27FC236}">
                    <a16:creationId xmlns:a16="http://schemas.microsoft.com/office/drawing/2014/main" id="{1F466EB3-B60E-7D23-E89B-1BF968A584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01" y="2647"/>
                <a:ext cx="1901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矩形 20490">
                <a:extLst>
                  <a:ext uri="{FF2B5EF4-FFF2-40B4-BE49-F238E27FC236}">
                    <a16:creationId xmlns:a16="http://schemas.microsoft.com/office/drawing/2014/main" id="{182D65DD-32B2-EEB2-911E-C51F89CC5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03" y="2247"/>
                <a:ext cx="1488" cy="6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rgbClr val="FF0000"/>
                    </a:solidFill>
                  </a:rPr>
                  <a:t>反射波</a:t>
                </a:r>
              </a:p>
            </p:txBody>
          </p:sp>
        </p:grpSp>
        <p:sp>
          <p:nvSpPr>
            <p:cNvPr id="12" name="文本框 1">
              <a:extLst>
                <a:ext uri="{FF2B5EF4-FFF2-40B4-BE49-F238E27FC236}">
                  <a16:creationId xmlns:a16="http://schemas.microsoft.com/office/drawing/2014/main" id="{ED956805-DCD1-9EFA-BCF0-3DB032D4C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8322" y="2915965"/>
              <a:ext cx="31750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 dirty="0"/>
                <a:t>x</a:t>
              </a:r>
              <a:endParaRPr lang="zh-CN" altLang="en-US" dirty="0"/>
            </a:p>
          </p:txBody>
        </p:sp>
      </p:grpSp>
    </p:spTree>
  </p:cSld>
  <p:clrMapOvr>
    <a:masterClrMapping/>
  </p:clrMapOvr>
  <p:transition advTm="16992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8" name="矩形 114800"/>
          <p:cNvSpPr/>
          <p:nvPr/>
        </p:nvSpPr>
        <p:spPr>
          <a:xfrm>
            <a:off x="755650" y="1995805"/>
            <a:ext cx="411226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r>
              <a:rPr lang="zh-CN" altLang="en-US" sz="2000" b="1" dirty="0">
                <a:latin typeface="Arial" panose="020B0604020202020204" pitchFamily="34" charset="0"/>
                <a:sym typeface="+mn-ea"/>
              </a:rPr>
              <a:t>以释放时为计时起点，平衡位置为坐标原点，水平向右为</a:t>
            </a:r>
            <a:r>
              <a:rPr lang="en-US" altLang="zh-CN" sz="2000" b="1">
                <a:latin typeface="Arial" panose="020B0604020202020204" pitchFamily="34" charset="0"/>
                <a:sym typeface="+mn-ea"/>
              </a:rPr>
              <a:t>x</a:t>
            </a:r>
            <a:r>
              <a:rPr lang="zh-CN" altLang="en-US" sz="2000" b="1" dirty="0">
                <a:latin typeface="Arial" panose="020B0604020202020204" pitchFamily="34" charset="0"/>
                <a:sym typeface="+mn-ea"/>
              </a:rPr>
              <a:t>轴正方向建立坐标系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62" name="矩形 20497"/>
          <p:cNvSpPr/>
          <p:nvPr/>
        </p:nvSpPr>
        <p:spPr>
          <a:xfrm>
            <a:off x="756920" y="3002598"/>
            <a:ext cx="120396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平衡时：</a:t>
            </a:r>
          </a:p>
        </p:txBody>
      </p:sp>
      <p:graphicFrame>
        <p:nvGraphicFramePr>
          <p:cNvPr id="6163" name="对象 20498"/>
          <p:cNvGraphicFramePr/>
          <p:nvPr/>
        </p:nvGraphicFramePr>
        <p:xfrm>
          <a:off x="2051368" y="3044825"/>
          <a:ext cx="1411605" cy="356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50900" imgH="215900" progId="Equation.3">
                  <p:embed/>
                </p:oleObj>
              </mc:Choice>
              <mc:Fallback>
                <p:oleObj r:id="rId2" imgW="8509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51368" y="3044825"/>
                        <a:ext cx="1411605" cy="3568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3" name="矩形 105523"/>
          <p:cNvSpPr/>
          <p:nvPr/>
        </p:nvSpPr>
        <p:spPr>
          <a:xfrm>
            <a:off x="755015" y="52070"/>
            <a:ext cx="7543165" cy="22453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例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  <a:sym typeface="+mn-ea"/>
              </a:rPr>
              <a:t>在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图示系统中，弹簧倔强系数为</a:t>
            </a:r>
            <a:r>
              <a:rPr lang="en-US" altLang="zh-CN" sz="2000" b="1" i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K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，圆盘的质量为</a:t>
            </a:r>
            <a:r>
              <a:rPr lang="en-US" altLang="zh-CN" sz="2000" b="1" i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m</a:t>
            </a:r>
            <a:r>
              <a:rPr lang="en-US" altLang="zh-CN" sz="2000" b="1" baseline="-2500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，半径为</a:t>
            </a:r>
            <a:r>
              <a:rPr lang="en-US" altLang="zh-CN" sz="2000" b="1" i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R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，重物的质量为</a:t>
            </a:r>
            <a:r>
              <a:rPr lang="en-US" altLang="zh-CN" sz="2000" b="1" i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m</a:t>
            </a:r>
            <a:r>
              <a:rPr lang="en-US" altLang="zh-CN" sz="2000" b="1" baseline="-2500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。绳、弹簧及定滑轮的质量忽略不计。运动中绳与盘之间，盘与地之间无相对滑动，现将盘</a:t>
            </a:r>
            <a:r>
              <a:rPr lang="en-US" altLang="zh-CN" sz="2000" b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C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从平衡位置向右平移</a:t>
            </a:r>
            <a:r>
              <a:rPr lang="en-US" altLang="zh-CN" sz="2000" b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A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。后静止释放。证明系统将作简谐振动，并求出振动周期。以释放这一时刻作为计时起点，平衡位置为坐标原点，水平向右为</a:t>
            </a:r>
            <a:r>
              <a:rPr lang="en-US" altLang="zh-CN" sz="2000" b="1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x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轴正方向，写出振动方程。</a:t>
            </a: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 </a:t>
            </a:r>
            <a:endParaRPr lang="zh-CN" altLang="en-US" sz="20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/>
            <a:endParaRPr lang="zh-CN" altLang="en-US" sz="20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7193" name="图片 7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238" y="1948180"/>
            <a:ext cx="3524250" cy="18478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" name="对象 20498"/>
          <p:cNvGraphicFramePr/>
          <p:nvPr/>
        </p:nvGraphicFramePr>
        <p:xfrm>
          <a:off x="1724660" y="3481070"/>
          <a:ext cx="2065020" cy="378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244600" imgH="228600" progId="Equation.3">
                  <p:embed/>
                </p:oleObj>
              </mc:Choice>
              <mc:Fallback>
                <p:oleObj r:id="rId5" imgW="12446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24660" y="3481070"/>
                        <a:ext cx="2065020" cy="3784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20498"/>
          <p:cNvGraphicFramePr/>
          <p:nvPr/>
        </p:nvGraphicFramePr>
        <p:xfrm>
          <a:off x="1835785" y="3867785"/>
          <a:ext cx="1623060" cy="671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977900" imgH="405765" progId="Equation.3">
                  <p:embed/>
                </p:oleObj>
              </mc:Choice>
              <mc:Fallback>
                <p:oleObj r:id="rId7" imgW="977900" imgH="40576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35785" y="3867785"/>
                        <a:ext cx="1623060" cy="6718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Tm="16992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63" name="对象 20498"/>
          <p:cNvGraphicFramePr/>
          <p:nvPr/>
        </p:nvGraphicFramePr>
        <p:xfrm>
          <a:off x="1000443" y="843598"/>
          <a:ext cx="2107565" cy="671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270000" imgH="405765" progId="Equation.3">
                  <p:embed/>
                </p:oleObj>
              </mc:Choice>
              <mc:Fallback>
                <p:oleObj r:id="rId7" imgW="1270000" imgH="40576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00443" y="843598"/>
                        <a:ext cx="2107565" cy="6711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93" name="图片 719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1728" y="137795"/>
            <a:ext cx="3524250" cy="18478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" name="对象 20498"/>
          <p:cNvGraphicFramePr/>
          <p:nvPr/>
        </p:nvGraphicFramePr>
        <p:xfrm>
          <a:off x="1027748" y="473075"/>
          <a:ext cx="252920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24000" imgH="241300" progId="Equation.3">
                  <p:embed/>
                </p:oleObj>
              </mc:Choice>
              <mc:Fallback>
                <p:oleObj r:id="rId10" imgW="1524000" imgH="241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27748" y="473075"/>
                        <a:ext cx="2529205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20497"/>
          <p:cNvSpPr/>
          <p:nvPr/>
        </p:nvSpPr>
        <p:spPr>
          <a:xfrm>
            <a:off x="828040" y="123508"/>
            <a:ext cx="2280285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在任意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位置时：</a:t>
            </a:r>
          </a:p>
        </p:txBody>
      </p:sp>
      <p:graphicFrame>
        <p:nvGraphicFramePr>
          <p:cNvPr id="3" name="对象 20498"/>
          <p:cNvGraphicFramePr/>
          <p:nvPr/>
        </p:nvGraphicFramePr>
        <p:xfrm>
          <a:off x="1042988" y="1515745"/>
          <a:ext cx="1602105" cy="358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965200" imgH="215900" progId="Equation.3">
                  <p:embed/>
                </p:oleObj>
              </mc:Choice>
              <mc:Fallback>
                <p:oleObj r:id="rId12" imgW="9652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42988" y="1515745"/>
                        <a:ext cx="1602105" cy="3581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20498"/>
          <p:cNvGraphicFramePr/>
          <p:nvPr/>
        </p:nvGraphicFramePr>
        <p:xfrm>
          <a:off x="1058545" y="1950720"/>
          <a:ext cx="90551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545465" imgH="241300" progId="Equation.3">
                  <p:embed/>
                </p:oleObj>
              </mc:Choice>
              <mc:Fallback>
                <p:oleObj r:id="rId14" imgW="545465" imgH="241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58545" y="1950720"/>
                        <a:ext cx="905510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20498"/>
          <p:cNvGraphicFramePr/>
          <p:nvPr/>
        </p:nvGraphicFramePr>
        <p:xfrm>
          <a:off x="1082993" y="2427288"/>
          <a:ext cx="1518285" cy="379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914400" imgH="228600" progId="Equation.3">
                  <p:embed/>
                </p:oleObj>
              </mc:Choice>
              <mc:Fallback>
                <p:oleObj r:id="rId16" imgW="9144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82993" y="2427288"/>
                        <a:ext cx="1518285" cy="3790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20498"/>
          <p:cNvGraphicFramePr/>
          <p:nvPr/>
        </p:nvGraphicFramePr>
        <p:xfrm>
          <a:off x="835660" y="2811780"/>
          <a:ext cx="4006850" cy="758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2413000" imgH="457200" progId="Equation.3">
                  <p:embed/>
                </p:oleObj>
              </mc:Choice>
              <mc:Fallback>
                <p:oleObj r:id="rId18" imgW="2413000" imgH="457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35660" y="2811780"/>
                        <a:ext cx="4006850" cy="7581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20498"/>
          <p:cNvGraphicFramePr/>
          <p:nvPr/>
        </p:nvGraphicFramePr>
        <p:xfrm>
          <a:off x="1548130" y="3596640"/>
          <a:ext cx="2383790" cy="737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435100" imgH="444500" progId="Equation.3">
                  <p:embed/>
                </p:oleObj>
              </mc:Choice>
              <mc:Fallback>
                <p:oleObj r:id="rId20" imgW="1435100" imgH="4445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48130" y="3596640"/>
                        <a:ext cx="2383790" cy="7378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5580380" y="3004185"/>
            <a:ext cx="26041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故系统作简谐。</a:t>
            </a:r>
          </a:p>
        </p:txBody>
      </p:sp>
      <p:graphicFrame>
        <p:nvGraphicFramePr>
          <p:cNvPr id="21" name="对象 20498"/>
          <p:cNvGraphicFramePr/>
          <p:nvPr>
            <p:custDataLst>
              <p:tags r:id="rId1"/>
            </p:custDataLst>
          </p:nvPr>
        </p:nvGraphicFramePr>
        <p:xfrm>
          <a:off x="2195830" y="4337050"/>
          <a:ext cx="3290570" cy="782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2133600" imgH="482600" progId="Equation.3">
                  <p:embed/>
                </p:oleObj>
              </mc:Choice>
              <mc:Fallback>
                <p:oleObj r:id="rId22" imgW="2133600" imgH="4826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195830" y="4337050"/>
                        <a:ext cx="3290570" cy="782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539750" y="4507865"/>
            <a:ext cx="17100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sym typeface="+mn-ea"/>
              </a:rPr>
              <a:t>振动方程：</a:t>
            </a:r>
          </a:p>
        </p:txBody>
      </p:sp>
      <p:sp>
        <p:nvSpPr>
          <p:cNvPr id="8213" name="直接连接符 78862"/>
          <p:cNvSpPr/>
          <p:nvPr/>
        </p:nvSpPr>
        <p:spPr>
          <a:xfrm>
            <a:off x="7240270" y="4089400"/>
            <a:ext cx="586740" cy="127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78865" name="组合 78864"/>
          <p:cNvGrpSpPr/>
          <p:nvPr/>
        </p:nvGrpSpPr>
        <p:grpSpPr>
          <a:xfrm>
            <a:off x="6535420" y="3517900"/>
            <a:ext cx="1798320" cy="1144905"/>
            <a:chOff x="3888" y="1872"/>
            <a:chExt cx="1535" cy="960"/>
          </a:xfrm>
        </p:grpSpPr>
        <p:sp>
          <p:nvSpPr>
            <p:cNvPr id="8209" name="椭圆 78865"/>
            <p:cNvSpPr/>
            <p:nvPr>
              <p:custDataLst>
                <p:tags r:id="rId2"/>
              </p:custDataLst>
            </p:nvPr>
          </p:nvSpPr>
          <p:spPr>
            <a:xfrm>
              <a:off x="3984" y="1872"/>
              <a:ext cx="1008" cy="96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210" name="直接连接符 78866"/>
            <p:cNvSpPr/>
            <p:nvPr>
              <p:custDataLst>
                <p:tags r:id="rId3"/>
              </p:custDataLst>
            </p:nvPr>
          </p:nvSpPr>
          <p:spPr>
            <a:xfrm>
              <a:off x="3888" y="2352"/>
              <a:ext cx="13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8211" name="对象 78867"/>
            <p:cNvGraphicFramePr/>
            <p:nvPr>
              <p:custDataLst>
                <p:tags r:id="rId4"/>
              </p:custDataLst>
            </p:nvPr>
          </p:nvGraphicFramePr>
          <p:xfrm>
            <a:off x="5232" y="2256"/>
            <a:ext cx="191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304165" imgH="266065" progId="Equation.3">
                    <p:embed/>
                  </p:oleObj>
                </mc:Choice>
                <mc:Fallback>
                  <p:oleObj r:id="rId24" imgW="304165" imgH="266065" progId="Equation.3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5232" y="2256"/>
                          <a:ext cx="191" cy="1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2" name="对象 78868"/>
            <p:cNvGraphicFramePr/>
            <p:nvPr>
              <p:custDataLst>
                <p:tags r:id="rId5"/>
              </p:custDataLst>
            </p:nvPr>
          </p:nvGraphicFramePr>
          <p:xfrm>
            <a:off x="4394" y="2400"/>
            <a:ext cx="1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266065" imgH="278765" progId="Equation.3">
                    <p:embed/>
                  </p:oleObj>
                </mc:Choice>
                <mc:Fallback>
                  <p:oleObj r:id="rId26" imgW="266065" imgH="278765" progId="Equation.3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4394" y="2400"/>
                          <a:ext cx="167" cy="1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7" name="组合 1">
            <a:extLst>
              <a:ext uri="{FF2B5EF4-FFF2-40B4-BE49-F238E27FC236}">
                <a16:creationId xmlns:a16="http://schemas.microsoft.com/office/drawing/2014/main" id="{4990CE9D-4025-C84D-69D7-EF36617A4A14}"/>
              </a:ext>
            </a:extLst>
          </p:cNvPr>
          <p:cNvGrpSpPr>
            <a:grpSpLocks/>
          </p:cNvGrpSpPr>
          <p:nvPr/>
        </p:nvGrpSpPr>
        <p:grpSpPr bwMode="auto">
          <a:xfrm>
            <a:off x="5308600" y="1146175"/>
            <a:ext cx="3513138" cy="1423988"/>
            <a:chOff x="7100" y="2247"/>
            <a:chExt cx="6399" cy="2485"/>
          </a:xfrm>
        </p:grpSpPr>
        <p:sp>
          <p:nvSpPr>
            <p:cNvPr id="6159" name="直接连接符 20482">
              <a:extLst>
                <a:ext uri="{FF2B5EF4-FFF2-40B4-BE49-F238E27FC236}">
                  <a16:creationId xmlns:a16="http://schemas.microsoft.com/office/drawing/2014/main" id="{0A640021-4DDC-18E0-3D8E-D17141F42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00" y="3949"/>
              <a:ext cx="51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0" name="直接连接符 20483">
              <a:extLst>
                <a:ext uri="{FF2B5EF4-FFF2-40B4-BE49-F238E27FC236}">
                  <a16:creationId xmlns:a16="http://schemas.microsoft.com/office/drawing/2014/main" id="{7DCE785E-5479-2273-8631-E6FC02A29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02" y="2347"/>
              <a:ext cx="0" cy="160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1" name="椭圆 20484">
              <a:extLst>
                <a:ext uri="{FF2B5EF4-FFF2-40B4-BE49-F238E27FC236}">
                  <a16:creationId xmlns:a16="http://schemas.microsoft.com/office/drawing/2014/main" id="{3EB47981-222C-F093-5C35-8CC11521C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1" y="3905"/>
              <a:ext cx="100" cy="94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6162" name="矩形 20485">
              <a:extLst>
                <a:ext uri="{FF2B5EF4-FFF2-40B4-BE49-F238E27FC236}">
                  <a16:creationId xmlns:a16="http://schemas.microsoft.com/office/drawing/2014/main" id="{3423F9FE-6B53-97D8-84A5-19FDE8B46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9" y="4036"/>
              <a:ext cx="1459" cy="6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/>
                <a:t>x </a:t>
              </a:r>
              <a:r>
                <a:rPr lang="en-US" altLang="zh-CN" sz="2000"/>
                <a:t>= 0</a:t>
              </a:r>
              <a:endParaRPr lang="zh-CN" altLang="en-US" sz="2000"/>
            </a:p>
          </p:txBody>
        </p:sp>
        <p:sp>
          <p:nvSpPr>
            <p:cNvPr id="6163" name="矩形 20486">
              <a:extLst>
                <a:ext uri="{FF2B5EF4-FFF2-40B4-BE49-F238E27FC236}">
                  <a16:creationId xmlns:a16="http://schemas.microsoft.com/office/drawing/2014/main" id="{059D4E78-0AFF-5753-C9FE-F14BC359E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1" y="4015"/>
              <a:ext cx="1410" cy="6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ym typeface="Symbol" panose="05050102010706020507" pitchFamily="18" charset="2"/>
                </a:rPr>
                <a:t></a:t>
              </a:r>
              <a:r>
                <a:rPr lang="en-US" altLang="zh-CN" sz="2000"/>
                <a:t> /8</a:t>
              </a:r>
              <a:endParaRPr lang="zh-CN" altLang="en-US" sz="2000"/>
            </a:p>
          </p:txBody>
        </p:sp>
        <p:sp>
          <p:nvSpPr>
            <p:cNvPr id="6164" name="直接连接符 20487">
              <a:extLst>
                <a:ext uri="{FF2B5EF4-FFF2-40B4-BE49-F238E27FC236}">
                  <a16:creationId xmlns:a16="http://schemas.microsoft.com/office/drawing/2014/main" id="{5DAA0341-CB1E-6FAB-C5B5-C44FF0F787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02" y="3348"/>
              <a:ext cx="20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5" name="矩形 20488">
              <a:extLst>
                <a:ext uri="{FF2B5EF4-FFF2-40B4-BE49-F238E27FC236}">
                  <a16:creationId xmlns:a16="http://schemas.microsoft.com/office/drawing/2014/main" id="{356BB326-5173-7891-6612-5FB697296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5" y="3048"/>
              <a:ext cx="1994" cy="6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/>
                <a:t>入射波</a:t>
              </a:r>
            </a:p>
          </p:txBody>
        </p:sp>
        <p:sp>
          <p:nvSpPr>
            <p:cNvPr id="6166" name="直接连接符 20489">
              <a:extLst>
                <a:ext uri="{FF2B5EF4-FFF2-40B4-BE49-F238E27FC236}">
                  <a16:creationId xmlns:a16="http://schemas.microsoft.com/office/drawing/2014/main" id="{FB12DC8D-D6CD-7378-1D2E-58B056611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02" y="2648"/>
              <a:ext cx="190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7" name="矩形 20490">
              <a:extLst>
                <a:ext uri="{FF2B5EF4-FFF2-40B4-BE49-F238E27FC236}">
                  <a16:creationId xmlns:a16="http://schemas.microsoft.com/office/drawing/2014/main" id="{D18E88F5-E2CA-1BD0-28CD-62037746C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5" y="2247"/>
              <a:ext cx="1920" cy="6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FF0000"/>
                  </a:solidFill>
                </a:rPr>
                <a:t>反射波</a:t>
              </a:r>
            </a:p>
          </p:txBody>
        </p:sp>
      </p:grpSp>
      <p:sp>
        <p:nvSpPr>
          <p:cNvPr id="6148" name="文本框 114719">
            <a:extLst>
              <a:ext uri="{FF2B5EF4-FFF2-40B4-BE49-F238E27FC236}">
                <a16:creationId xmlns:a16="http://schemas.microsoft.com/office/drawing/2014/main" id="{9DD7A0C2-CDAD-6F7E-3F30-AC307F473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3468" y="1419225"/>
            <a:ext cx="13319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00FF"/>
                </a:solidFill>
                <a:latin typeface="Century Schoolbook" panose="02040604050505020304" pitchFamily="18" charset="0"/>
              </a:rPr>
              <a:t>1</a:t>
            </a:r>
            <a:r>
              <a:rPr lang="zh-CN" altLang="en-US" sz="2000" b="1">
                <a:solidFill>
                  <a:srgbClr val="0000FF"/>
                </a:solidFill>
                <a:latin typeface="Century Schoolbook" panose="02040604050505020304" pitchFamily="18" charset="0"/>
              </a:rPr>
              <a:t>）</a:t>
            </a:r>
          </a:p>
        </p:txBody>
      </p:sp>
      <p:sp>
        <p:nvSpPr>
          <p:cNvPr id="6149" name="矩形 114723">
            <a:extLst>
              <a:ext uri="{FF2B5EF4-FFF2-40B4-BE49-F238E27FC236}">
                <a16:creationId xmlns:a16="http://schemas.microsoft.com/office/drawing/2014/main" id="{D982E65A-5C43-607B-06F0-60511E36A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2868" y="1427163"/>
            <a:ext cx="38036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 b="1">
                <a:solidFill>
                  <a:srgbClr val="0000FF"/>
                </a:solidFill>
              </a:rPr>
              <a:t>入射波在反射端的振动方程：</a:t>
            </a:r>
          </a:p>
        </p:txBody>
      </p:sp>
      <p:sp>
        <p:nvSpPr>
          <p:cNvPr id="6150" name="矩形 114800">
            <a:extLst>
              <a:ext uri="{FF2B5EF4-FFF2-40B4-BE49-F238E27FC236}">
                <a16:creationId xmlns:a16="http://schemas.microsoft.com/office/drawing/2014/main" id="{72978776-3719-EE3E-372A-D4B975EED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419225"/>
            <a:ext cx="719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>
                <a:solidFill>
                  <a:srgbClr val="FF0000"/>
                </a:solidFill>
              </a:rPr>
              <a:t>解：</a:t>
            </a:r>
          </a:p>
        </p:txBody>
      </p:sp>
      <p:graphicFrame>
        <p:nvGraphicFramePr>
          <p:cNvPr id="6151" name="对象 20493">
            <a:extLst>
              <a:ext uri="{FF2B5EF4-FFF2-40B4-BE49-F238E27FC236}">
                <a16:creationId xmlns:a16="http://schemas.microsoft.com/office/drawing/2014/main" id="{6C664ADB-6FF3-43FD-949F-17D4405DF2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0613157"/>
              </p:ext>
            </p:extLst>
          </p:nvPr>
        </p:nvGraphicFramePr>
        <p:xfrm>
          <a:off x="1258243" y="1851025"/>
          <a:ext cx="364331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54280" imgH="406080" progId="Equation.3">
                  <p:embed/>
                </p:oleObj>
              </mc:Choice>
              <mc:Fallback>
                <p:oleObj r:id="rId2" imgW="2654280" imgH="406080" progId="Equation.3">
                  <p:embed/>
                  <p:pic>
                    <p:nvPicPr>
                      <p:cNvPr id="6151" name="对象 20493">
                        <a:extLst>
                          <a:ext uri="{FF2B5EF4-FFF2-40B4-BE49-F238E27FC236}">
                            <a16:creationId xmlns:a16="http://schemas.microsoft.com/office/drawing/2014/main" id="{6C664ADB-6FF3-43FD-949F-17D4405DF2A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243" y="1851025"/>
                        <a:ext cx="3643312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2" name="矩形 20496">
            <a:extLst>
              <a:ext uri="{FF2B5EF4-FFF2-40B4-BE49-F238E27FC236}">
                <a16:creationId xmlns:a16="http://schemas.microsoft.com/office/drawing/2014/main" id="{A16118A5-A175-7EE2-0249-53AC2CE9A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5530" y="2500313"/>
            <a:ext cx="707548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00FF"/>
                </a:solidFill>
              </a:rPr>
              <a:t>反射端为固定端，有半波损失，反射波在反射端的振动方程：</a:t>
            </a:r>
          </a:p>
        </p:txBody>
      </p:sp>
      <p:graphicFrame>
        <p:nvGraphicFramePr>
          <p:cNvPr id="6153" name="对象 20495">
            <a:extLst>
              <a:ext uri="{FF2B5EF4-FFF2-40B4-BE49-F238E27FC236}">
                <a16:creationId xmlns:a16="http://schemas.microsoft.com/office/drawing/2014/main" id="{3EE95115-6601-EC21-1803-BBF4E10DD5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9030517"/>
              </p:ext>
            </p:extLst>
          </p:nvPr>
        </p:nvGraphicFramePr>
        <p:xfrm>
          <a:off x="1258243" y="2932113"/>
          <a:ext cx="3573462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603160" imgH="406080" progId="Equation.3">
                  <p:embed/>
                </p:oleObj>
              </mc:Choice>
              <mc:Fallback>
                <p:oleObj r:id="rId4" imgW="2603160" imgH="406080" progId="Equation.3">
                  <p:embed/>
                  <p:pic>
                    <p:nvPicPr>
                      <p:cNvPr id="6153" name="对象 20495">
                        <a:extLst>
                          <a:ext uri="{FF2B5EF4-FFF2-40B4-BE49-F238E27FC236}">
                            <a16:creationId xmlns:a16="http://schemas.microsoft.com/office/drawing/2014/main" id="{3EE95115-6601-EC21-1803-BBF4E10DD5C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243" y="2932113"/>
                        <a:ext cx="3573462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矩形 20497">
            <a:extLst>
              <a:ext uri="{FF2B5EF4-FFF2-40B4-BE49-F238E27FC236}">
                <a16:creationId xmlns:a16="http://schemas.microsoft.com/office/drawing/2014/main" id="{D1300AA8-E8A9-0D41-D4D9-5176F1787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2505" y="3579813"/>
            <a:ext cx="318928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00FF"/>
                </a:solidFill>
              </a:rPr>
              <a:t>反射波在O点的振动方程：</a:t>
            </a:r>
          </a:p>
        </p:txBody>
      </p:sp>
      <p:graphicFrame>
        <p:nvGraphicFramePr>
          <p:cNvPr id="6155" name="对象 20498">
            <a:extLst>
              <a:ext uri="{FF2B5EF4-FFF2-40B4-BE49-F238E27FC236}">
                <a16:creationId xmlns:a16="http://schemas.microsoft.com/office/drawing/2014/main" id="{6AC61211-77B1-7765-5569-4F4C8B1753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1570702"/>
              </p:ext>
            </p:extLst>
          </p:nvPr>
        </p:nvGraphicFramePr>
        <p:xfrm>
          <a:off x="4388793" y="3498850"/>
          <a:ext cx="36068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628720" imgH="406080" progId="Equation.3">
                  <p:embed/>
                </p:oleObj>
              </mc:Choice>
              <mc:Fallback>
                <p:oleObj r:id="rId6" imgW="2628720" imgH="406080" progId="Equation.3">
                  <p:embed/>
                  <p:pic>
                    <p:nvPicPr>
                      <p:cNvPr id="6155" name="对象 20498">
                        <a:extLst>
                          <a:ext uri="{FF2B5EF4-FFF2-40B4-BE49-F238E27FC236}">
                            <a16:creationId xmlns:a16="http://schemas.microsoft.com/office/drawing/2014/main" id="{6AC61211-77B1-7765-5569-4F4C8B1753D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8793" y="3498850"/>
                        <a:ext cx="360680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文本框 114722">
            <a:extLst>
              <a:ext uri="{FF2B5EF4-FFF2-40B4-BE49-F238E27FC236}">
                <a16:creationId xmlns:a16="http://schemas.microsoft.com/office/drawing/2014/main" id="{FE235418-7C15-F084-4830-0594FE963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530" y="4235450"/>
            <a:ext cx="28940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∴</a:t>
            </a:r>
            <a:r>
              <a:rPr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b="1">
                <a:solidFill>
                  <a:srgbClr val="0000FF"/>
                </a:solidFill>
                <a:latin typeface="Century Schoolbook" panose="02040604050505020304" pitchFamily="18" charset="0"/>
              </a:rPr>
              <a:t>反射波表达式</a:t>
            </a:r>
            <a:r>
              <a:rPr lang="en-US" altLang="zh-CN" sz="2000" b="1">
                <a:solidFill>
                  <a:srgbClr val="0000FF"/>
                </a:solidFill>
                <a:latin typeface="Century Schoolbook" panose="02040604050505020304" pitchFamily="18" charset="0"/>
              </a:rPr>
              <a:t>:</a:t>
            </a:r>
          </a:p>
        </p:txBody>
      </p:sp>
      <p:graphicFrame>
        <p:nvGraphicFramePr>
          <p:cNvPr id="6157" name="对象 31746">
            <a:extLst>
              <a:ext uri="{FF2B5EF4-FFF2-40B4-BE49-F238E27FC236}">
                <a16:creationId xmlns:a16="http://schemas.microsoft.com/office/drawing/2014/main" id="{1B8903E7-49E3-DCE6-89F3-F7E853F5DE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6369568"/>
              </p:ext>
            </p:extLst>
          </p:nvPr>
        </p:nvGraphicFramePr>
        <p:xfrm>
          <a:off x="3593455" y="4156075"/>
          <a:ext cx="23336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01720" imgH="406080" progId="Equation.3">
                  <p:embed/>
                </p:oleObj>
              </mc:Choice>
              <mc:Fallback>
                <p:oleObj r:id="rId8" imgW="1701720" imgH="406080" progId="Equation.3">
                  <p:embed/>
                  <p:pic>
                    <p:nvPicPr>
                      <p:cNvPr id="6157" name="对象 31746">
                        <a:extLst>
                          <a:ext uri="{FF2B5EF4-FFF2-40B4-BE49-F238E27FC236}">
                            <a16:creationId xmlns:a16="http://schemas.microsoft.com/office/drawing/2014/main" id="{1B8903E7-49E3-DCE6-89F3-F7E853F5DE4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3455" y="4156075"/>
                        <a:ext cx="23336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8" name="文本框 1">
            <a:extLst>
              <a:ext uri="{FF2B5EF4-FFF2-40B4-BE49-F238E27FC236}">
                <a16:creationId xmlns:a16="http://schemas.microsoft.com/office/drawing/2014/main" id="{6D8B7B2E-1C88-0AB6-D3E7-5639FF4E2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9425" y="1909763"/>
            <a:ext cx="3746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ym typeface="宋体" panose="02010600030101010101" pitchFamily="2" charset="-122"/>
              </a:rPr>
              <a:t>x</a:t>
            </a:r>
          </a:p>
        </p:txBody>
      </p:sp>
      <p:sp>
        <p:nvSpPr>
          <p:cNvPr id="2" name="矩形 103443">
            <a:extLst>
              <a:ext uri="{FF2B5EF4-FFF2-40B4-BE49-F238E27FC236}">
                <a16:creationId xmlns:a16="http://schemas.microsoft.com/office/drawing/2014/main" id="{EF18BF42-AF70-A5E6-98B6-CB4C0F9CCE10}"/>
              </a:ext>
            </a:extLst>
          </p:cNvPr>
          <p:cNvSpPr/>
          <p:nvPr/>
        </p:nvSpPr>
        <p:spPr>
          <a:xfrm>
            <a:off x="755015" y="123577"/>
            <a:ext cx="7686675" cy="132343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</a:rPr>
              <a:t>一在绳上传播的入射波方程为 </a:t>
            </a:r>
            <a:r>
              <a:rPr lang="zh-CN" altLang="en-US" sz="2000" b="1" i="1" dirty="0">
                <a:solidFill>
                  <a:srgbClr val="0000FF"/>
                </a:solidFill>
              </a:rPr>
              <a:t>y</a:t>
            </a:r>
            <a:r>
              <a:rPr lang="zh-CN" altLang="en-US" sz="20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</a:rPr>
              <a:t> = </a:t>
            </a:r>
            <a:r>
              <a:rPr lang="zh-CN" altLang="en-US" sz="2000" b="1" i="1" dirty="0">
                <a:solidFill>
                  <a:srgbClr val="0000FF"/>
                </a:solidFill>
              </a:rPr>
              <a:t>A</a:t>
            </a:r>
            <a:r>
              <a:rPr lang="zh-CN" altLang="en-US" sz="2000" b="1" dirty="0">
                <a:solidFill>
                  <a:srgbClr val="0000FF"/>
                </a:solidFill>
              </a:rPr>
              <a:t>cos(</a:t>
            </a:r>
            <a:r>
              <a:rPr lang="zh-CN" altLang="en-US" sz="2000" b="1" dirty="0">
                <a:solidFill>
                  <a:srgbClr val="0000FF"/>
                </a:solidFill>
                <a:sym typeface="Symbol" panose="05050102010706020507" pitchFamily="18" charset="2"/>
              </a:rPr>
              <a:t>t+2</a:t>
            </a:r>
            <a:r>
              <a:rPr lang="zh-CN" altLang="en-US" sz="2000" b="1" i="1" dirty="0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r>
              <a:rPr lang="zh-CN" altLang="en-US" sz="2000" b="1" dirty="0">
                <a:solidFill>
                  <a:srgbClr val="0000FF"/>
                </a:solidFill>
                <a:sym typeface="Symbol" panose="05050102010706020507" pitchFamily="18" charset="2"/>
              </a:rPr>
              <a:t>/</a:t>
            </a:r>
            <a:r>
              <a:rPr lang="zh-CN" altLang="en-US" sz="2000" b="1" i="1" dirty="0">
                <a:solidFill>
                  <a:srgbClr val="0000FF"/>
                </a:solidFill>
                <a:sym typeface="Symbol" panose="05050102010706020507" pitchFamily="18" charset="2"/>
              </a:rPr>
              <a:t></a:t>
            </a:r>
            <a:r>
              <a:rPr lang="zh-CN" altLang="en-US" sz="2000" b="1" dirty="0">
                <a:solidFill>
                  <a:srgbClr val="0000FF"/>
                </a:solidFill>
              </a:rPr>
              <a:t>)，入射波在</a:t>
            </a:r>
            <a:r>
              <a:rPr lang="zh-CN" altLang="en-US" sz="2000" b="1" i="1" dirty="0">
                <a:solidFill>
                  <a:srgbClr val="0000FF"/>
                </a:solidFill>
              </a:rPr>
              <a:t> x</a:t>
            </a:r>
            <a:r>
              <a:rPr lang="zh-CN" altLang="en-US" sz="2000" b="1" dirty="0">
                <a:solidFill>
                  <a:srgbClr val="0000FF"/>
                </a:solidFill>
              </a:rPr>
              <a:t> =</a:t>
            </a:r>
            <a:r>
              <a:rPr lang="zh-CN" altLang="en-US" sz="2000" b="1" i="1" dirty="0">
                <a:solidFill>
                  <a:srgbClr val="0000FF"/>
                </a:solidFill>
              </a:rPr>
              <a:t> </a:t>
            </a:r>
            <a:r>
              <a:rPr lang="zh-CN" altLang="en-US" sz="2000" b="1" i="1" dirty="0">
                <a:solidFill>
                  <a:srgbClr val="0000FF"/>
                </a:solidFill>
                <a:sym typeface="Symbol" panose="05050102010706020507" pitchFamily="18" charset="2"/>
              </a:rPr>
              <a:t></a:t>
            </a:r>
            <a:r>
              <a:rPr lang="zh-CN" altLang="en-US" sz="2000" b="1" dirty="0">
                <a:solidFill>
                  <a:srgbClr val="0000FF"/>
                </a:solidFill>
              </a:rPr>
              <a:t> /8处反射，反射端为固定端。设反射波不衰减，试求：(1)反射波的方程；(2)驻波方程; (3)位于 </a:t>
            </a:r>
            <a:r>
              <a:rPr lang="zh-CN" altLang="en-US" sz="2000" b="1" i="1" dirty="0">
                <a:solidFill>
                  <a:srgbClr val="0000FF"/>
                </a:solidFill>
              </a:rPr>
              <a:t>x</a:t>
            </a:r>
            <a:r>
              <a:rPr lang="zh-CN" altLang="en-US" sz="2000" b="1" dirty="0">
                <a:solidFill>
                  <a:srgbClr val="0000FF"/>
                </a:solidFill>
              </a:rPr>
              <a:t> = 0 到 </a:t>
            </a:r>
            <a:r>
              <a:rPr lang="zh-CN" altLang="en-US" sz="2000" b="1" i="1" dirty="0">
                <a:solidFill>
                  <a:srgbClr val="0000FF"/>
                </a:solidFill>
              </a:rPr>
              <a:t>x </a:t>
            </a:r>
            <a:r>
              <a:rPr lang="zh-CN" altLang="en-US" sz="2000" b="1" dirty="0">
                <a:solidFill>
                  <a:srgbClr val="0000FF"/>
                </a:solidFill>
              </a:rPr>
              <a:t>= 2</a:t>
            </a:r>
            <a:r>
              <a:rPr lang="zh-CN" altLang="en-US" sz="2000" b="1" i="1" dirty="0">
                <a:solidFill>
                  <a:srgbClr val="0000FF"/>
                </a:solidFill>
                <a:sym typeface="Symbol" panose="05050102010706020507" pitchFamily="18" charset="2"/>
              </a:rPr>
              <a:t></a:t>
            </a:r>
            <a:r>
              <a:rPr lang="zh-CN" altLang="en-US" sz="2000" b="1" dirty="0">
                <a:solidFill>
                  <a:srgbClr val="0000FF"/>
                </a:solidFill>
              </a:rPr>
              <a:t>之间的波节位置。</a:t>
            </a:r>
          </a:p>
          <a:p>
            <a:pPr eaLnBrk="0" hangingPunct="0"/>
            <a:endParaRPr lang="zh-CN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Tm="16992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对象 31748">
            <a:extLst>
              <a:ext uri="{FF2B5EF4-FFF2-40B4-BE49-F238E27FC236}">
                <a16:creationId xmlns:a16="http://schemas.microsoft.com/office/drawing/2014/main" id="{7D5DC39C-F9E0-F9E9-0DA0-C6C81D59FACB}"/>
              </a:ext>
            </a:extLst>
          </p:cNvPr>
          <p:cNvGraphicFramePr>
            <a:graphicFrameLocks/>
          </p:cNvGraphicFramePr>
          <p:nvPr/>
        </p:nvGraphicFramePr>
        <p:xfrm>
          <a:off x="1979613" y="738188"/>
          <a:ext cx="5103812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79760" imgH="812520" progId="Equation.3">
                  <p:embed/>
                </p:oleObj>
              </mc:Choice>
              <mc:Fallback>
                <p:oleObj r:id="rId2" imgW="3479760" imgH="812520" progId="Equation.3">
                  <p:embed/>
                  <p:pic>
                    <p:nvPicPr>
                      <p:cNvPr id="7170" name="对象 31748">
                        <a:extLst>
                          <a:ext uri="{FF2B5EF4-FFF2-40B4-BE49-F238E27FC236}">
                            <a16:creationId xmlns:a16="http://schemas.microsoft.com/office/drawing/2014/main" id="{7D5DC39C-F9E0-F9E9-0DA0-C6C81D59FA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738188"/>
                        <a:ext cx="5103812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" name="矩形 31749">
            <a:extLst>
              <a:ext uri="{FF2B5EF4-FFF2-40B4-BE49-F238E27FC236}">
                <a16:creationId xmlns:a16="http://schemas.microsoft.com/office/drawing/2014/main" id="{1B24A989-A3F6-7571-752E-B03B9D188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211388"/>
            <a:ext cx="4773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FF"/>
                </a:solidFill>
                <a:latin typeface="Century Schoolbook" panose="02040604050505020304" pitchFamily="18" charset="0"/>
              </a:rPr>
              <a:t>3</a:t>
            </a:r>
            <a:r>
              <a:rPr lang="zh-CN" altLang="en-US" sz="2000" b="1">
                <a:solidFill>
                  <a:srgbClr val="0000FF"/>
                </a:solidFill>
                <a:latin typeface="Century Schoolbook" panose="02040604050505020304" pitchFamily="18" charset="0"/>
              </a:rPr>
              <a:t>）</a:t>
            </a:r>
            <a:r>
              <a:rPr lang="zh-CN" altLang="en-US" sz="2000" b="1">
                <a:solidFill>
                  <a:srgbClr val="0000FF"/>
                </a:solidFill>
              </a:rPr>
              <a:t>位于 </a:t>
            </a:r>
            <a:r>
              <a:rPr lang="zh-CN" altLang="en-US" sz="2000" b="1" i="1">
                <a:solidFill>
                  <a:srgbClr val="0000FF"/>
                </a:solidFill>
              </a:rPr>
              <a:t>x</a:t>
            </a:r>
            <a:r>
              <a:rPr lang="zh-CN" altLang="en-US" sz="2000" b="1">
                <a:solidFill>
                  <a:srgbClr val="0000FF"/>
                </a:solidFill>
              </a:rPr>
              <a:t> = 0 到 </a:t>
            </a:r>
            <a:r>
              <a:rPr lang="zh-CN" altLang="en-US" sz="2000" b="1" i="1">
                <a:solidFill>
                  <a:srgbClr val="0000FF"/>
                </a:solidFill>
              </a:rPr>
              <a:t>x</a:t>
            </a:r>
            <a:r>
              <a:rPr lang="zh-CN" altLang="en-US" sz="2000" b="1">
                <a:solidFill>
                  <a:srgbClr val="0000FF"/>
                </a:solidFill>
              </a:rPr>
              <a:t> = 2</a:t>
            </a:r>
            <a:r>
              <a:rPr lang="zh-CN" altLang="en-US" sz="2000" b="1" i="1">
                <a:solidFill>
                  <a:srgbClr val="0000FF"/>
                </a:solidFill>
                <a:sym typeface="Symbol" panose="05050102010706020507" pitchFamily="18" charset="2"/>
              </a:rPr>
              <a:t></a:t>
            </a:r>
            <a:r>
              <a:rPr lang="zh-CN" altLang="en-US" sz="2000" b="1">
                <a:solidFill>
                  <a:srgbClr val="0000FF"/>
                </a:solidFill>
              </a:rPr>
              <a:t>之间的波节位置：</a:t>
            </a:r>
          </a:p>
        </p:txBody>
      </p:sp>
      <p:graphicFrame>
        <p:nvGraphicFramePr>
          <p:cNvPr id="7172" name="对象 31750">
            <a:extLst>
              <a:ext uri="{FF2B5EF4-FFF2-40B4-BE49-F238E27FC236}">
                <a16:creationId xmlns:a16="http://schemas.microsoft.com/office/drawing/2014/main" id="{8DC805F5-DED0-DBB4-2EC0-E8D98337E3AA}"/>
              </a:ext>
            </a:extLst>
          </p:cNvPr>
          <p:cNvGraphicFramePr>
            <a:graphicFrameLocks/>
          </p:cNvGraphicFramePr>
          <p:nvPr/>
        </p:nvGraphicFramePr>
        <p:xfrm>
          <a:off x="1714500" y="2790825"/>
          <a:ext cx="163671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93760" imgH="406080" progId="Equation.3">
                  <p:embed/>
                </p:oleObj>
              </mc:Choice>
              <mc:Fallback>
                <p:oleObj r:id="rId4" imgW="1193760" imgH="406080" progId="Equation.3">
                  <p:embed/>
                  <p:pic>
                    <p:nvPicPr>
                      <p:cNvPr id="7172" name="对象 31750">
                        <a:extLst>
                          <a:ext uri="{FF2B5EF4-FFF2-40B4-BE49-F238E27FC236}">
                            <a16:creationId xmlns:a16="http://schemas.microsoft.com/office/drawing/2014/main" id="{8DC805F5-DED0-DBB4-2EC0-E8D98337E3A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2790825"/>
                        <a:ext cx="1636713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对象 31751">
            <a:extLst>
              <a:ext uri="{FF2B5EF4-FFF2-40B4-BE49-F238E27FC236}">
                <a16:creationId xmlns:a16="http://schemas.microsoft.com/office/drawing/2014/main" id="{45D74A3F-C84D-59D7-1C0F-6E99F3B180A5}"/>
              </a:ext>
            </a:extLst>
          </p:cNvPr>
          <p:cNvGraphicFramePr>
            <a:graphicFrameLocks/>
          </p:cNvGraphicFramePr>
          <p:nvPr/>
        </p:nvGraphicFramePr>
        <p:xfrm>
          <a:off x="3646488" y="2790825"/>
          <a:ext cx="19685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34960" imgH="406080" progId="Equation.3">
                  <p:embed/>
                </p:oleObj>
              </mc:Choice>
              <mc:Fallback>
                <p:oleObj r:id="rId6" imgW="1434960" imgH="406080" progId="Equation.3">
                  <p:embed/>
                  <p:pic>
                    <p:nvPicPr>
                      <p:cNvPr id="7173" name="对象 31751">
                        <a:extLst>
                          <a:ext uri="{FF2B5EF4-FFF2-40B4-BE49-F238E27FC236}">
                            <a16:creationId xmlns:a16="http://schemas.microsoft.com/office/drawing/2014/main" id="{45D74A3F-C84D-59D7-1C0F-6E99F3B180A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6488" y="2790825"/>
                        <a:ext cx="196850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对象 31752">
            <a:extLst>
              <a:ext uri="{FF2B5EF4-FFF2-40B4-BE49-F238E27FC236}">
                <a16:creationId xmlns:a16="http://schemas.microsoft.com/office/drawing/2014/main" id="{1ABC5D76-51ED-BC1F-EBB0-17C45A9F0EAF}"/>
              </a:ext>
            </a:extLst>
          </p:cNvPr>
          <p:cNvGraphicFramePr>
            <a:graphicFrameLocks/>
          </p:cNvGraphicFramePr>
          <p:nvPr/>
        </p:nvGraphicFramePr>
        <p:xfrm>
          <a:off x="6107113" y="2790825"/>
          <a:ext cx="11176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812520" imgH="406080" progId="Equation.3">
                  <p:embed/>
                </p:oleObj>
              </mc:Choice>
              <mc:Fallback>
                <p:oleObj r:id="rId8" imgW="812520" imgH="406080" progId="Equation.3">
                  <p:embed/>
                  <p:pic>
                    <p:nvPicPr>
                      <p:cNvPr id="7174" name="对象 31752">
                        <a:extLst>
                          <a:ext uri="{FF2B5EF4-FFF2-40B4-BE49-F238E27FC236}">
                            <a16:creationId xmlns:a16="http://schemas.microsoft.com/office/drawing/2014/main" id="{1ABC5D76-51ED-BC1F-EBB0-17C45A9F0EA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7113" y="2790825"/>
                        <a:ext cx="111760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文本框 114719">
            <a:extLst>
              <a:ext uri="{FF2B5EF4-FFF2-40B4-BE49-F238E27FC236}">
                <a16:creationId xmlns:a16="http://schemas.microsoft.com/office/drawing/2014/main" id="{76555AC5-C42F-8736-6B79-A890B8EB6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325" y="339725"/>
            <a:ext cx="30734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00FF"/>
                </a:solidFill>
                <a:latin typeface="Century Schoolbook" panose="02040604050505020304" pitchFamily="18" charset="0"/>
              </a:rPr>
              <a:t>2</a:t>
            </a:r>
            <a:r>
              <a:rPr lang="zh-CN" altLang="en-US" sz="2000" b="1">
                <a:solidFill>
                  <a:srgbClr val="0000FF"/>
                </a:solidFill>
                <a:latin typeface="Century Schoolbook" panose="02040604050505020304" pitchFamily="18" charset="0"/>
              </a:rPr>
              <a:t>）</a:t>
            </a:r>
            <a:r>
              <a:rPr lang="zh-CN" altLang="en-US" sz="2000" b="1">
                <a:solidFill>
                  <a:srgbClr val="0000FF"/>
                </a:solidFill>
              </a:rPr>
              <a:t>驻波方程为：</a:t>
            </a:r>
            <a:endParaRPr lang="en-US" altLang="zh-CN" sz="2000" b="1">
              <a:solidFill>
                <a:srgbClr val="0000FF"/>
              </a:solidFill>
            </a:endParaRPr>
          </a:p>
        </p:txBody>
      </p:sp>
      <p:sp>
        <p:nvSpPr>
          <p:cNvPr id="7176" name="文本框 1">
            <a:extLst>
              <a:ext uri="{FF2B5EF4-FFF2-40B4-BE49-F238E27FC236}">
                <a16:creationId xmlns:a16="http://schemas.microsoft.com/office/drawing/2014/main" id="{AE8B2B40-56DB-BCB3-F231-62D691BC2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579813"/>
            <a:ext cx="693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00FF"/>
                </a:solidFill>
              </a:rPr>
              <a:t>即：</a:t>
            </a:r>
          </a:p>
        </p:txBody>
      </p:sp>
      <p:graphicFrame>
        <p:nvGraphicFramePr>
          <p:cNvPr id="7177" name="对象 2">
            <a:extLst>
              <a:ext uri="{FF2B5EF4-FFF2-40B4-BE49-F238E27FC236}">
                <a16:creationId xmlns:a16="http://schemas.microsoft.com/office/drawing/2014/main" id="{9B5A242C-EBFE-F362-7CA0-724448A684D2}"/>
              </a:ext>
            </a:extLst>
          </p:cNvPr>
          <p:cNvGraphicFramePr>
            <a:graphicFrameLocks/>
          </p:cNvGraphicFramePr>
          <p:nvPr/>
        </p:nvGraphicFramePr>
        <p:xfrm>
          <a:off x="2239963" y="3500438"/>
          <a:ext cx="20066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460160" imgH="406080" progId="Equation.3">
                  <p:embed/>
                </p:oleObj>
              </mc:Choice>
              <mc:Fallback>
                <p:oleObj r:id="rId10" imgW="1460160" imgH="406080" progId="Equation.3">
                  <p:embed/>
                  <p:pic>
                    <p:nvPicPr>
                      <p:cNvPr id="7177" name="对象 2">
                        <a:extLst>
                          <a:ext uri="{FF2B5EF4-FFF2-40B4-BE49-F238E27FC236}">
                            <a16:creationId xmlns:a16="http://schemas.microsoft.com/office/drawing/2014/main" id="{9B5A242C-EBFE-F362-7CA0-724448A684D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963" y="3500438"/>
                        <a:ext cx="200660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da50160-2123-481e-8aee-3f396e607e04"/>
  <p:tag name="COMMONDATA" val="eyJoZGlkIjoiZTFhMGE2NTI5YTdkYzdlN2ZlY2Q2ZWM1OGRlODFjN2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空演示文稿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空演示文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空演示文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空演示文稿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空演示文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空演示文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空演示文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空演示文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空演示文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空演示文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空演示文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Office\Templates\空演示文稿.pot</Template>
  <TotalTime>12</TotalTime>
  <Words>497</Words>
  <Application>Microsoft Office PowerPoint</Application>
  <PresentationFormat>自定义</PresentationFormat>
  <Paragraphs>28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宋体</vt:lpstr>
      <vt:lpstr>微软雅黑</vt:lpstr>
      <vt:lpstr>Arial</vt:lpstr>
      <vt:lpstr>Century Schoolbook</vt:lpstr>
      <vt:lpstr>Symbol</vt:lpstr>
      <vt:lpstr>Times New Roman</vt:lpstr>
      <vt:lpstr>空演示文稿</vt:lpstr>
      <vt:lpstr>1_空演示文稿</vt:lpstr>
      <vt:lpstr>Microsoft 公式 3.0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DYS</dc:creator>
  <cp:lastModifiedBy>才明 刘</cp:lastModifiedBy>
  <cp:revision>188</cp:revision>
  <cp:lastPrinted>2023-05-10T05:16:00Z</cp:lastPrinted>
  <dcterms:created xsi:type="dcterms:W3CDTF">1999-03-29T13:23:00Z</dcterms:created>
  <dcterms:modified xsi:type="dcterms:W3CDTF">2025-05-06T11:39:31Z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97567CC0A1A44FC89181881B81E7C758_13</vt:lpwstr>
  </property>
  <property fmtid="{D5CDD505-2E9C-101B-9397-08002B2CF9AE}" pid="3" name="KSOProductBuildVer">
    <vt:lpwstr>2052-11.1.0.14036</vt:lpwstr>
  </property>
</Properties>
</file>